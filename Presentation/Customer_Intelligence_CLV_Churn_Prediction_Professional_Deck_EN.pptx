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886e0f1e7b4d9c" /><Relationship Type="http://schemas.openxmlformats.org/officeDocument/2006/relationships/extended-properties" Target="/docProps/app.xml" Id="Rb991f418c2e34d1c" /><Relationship Type="http://schemas.openxmlformats.org/officeDocument/2006/relationships/officeDocument" Target="/ppt/presentation.xml" Id="Ra8b93727aa494d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8f0850b3f496d"/>
  </p:sldMasterIdLst>
  <p:notesMasterIdLst>
    <p:notesMasterId xmlns:r="http://schemas.openxmlformats.org/officeDocument/2006/relationships" r:id="R3f8db9f4416f43c5"/>
  </p:notesMasterIdLst>
  <p:sldIdLst>
    <p:sldId xmlns:r="http://schemas.openxmlformats.org/officeDocument/2006/relationships" id="256" r:id="R44b23db22ebe4141"/>
    <p:sldId xmlns:r="http://schemas.openxmlformats.org/officeDocument/2006/relationships" id="257" r:id="R976c642a850a46e1"/>
    <p:sldId xmlns:r="http://schemas.openxmlformats.org/officeDocument/2006/relationships" id="258" r:id="Rdfd550426d354161"/>
    <p:sldId xmlns:r="http://schemas.openxmlformats.org/officeDocument/2006/relationships" id="259" r:id="R96f0cc24110c4578"/>
    <p:sldId xmlns:r="http://schemas.openxmlformats.org/officeDocument/2006/relationships" id="260" r:id="R79871605df724bee"/>
    <p:sldId xmlns:r="http://schemas.openxmlformats.org/officeDocument/2006/relationships" id="261" r:id="R3dbd4786785a496c"/>
    <p:sldId xmlns:r="http://schemas.openxmlformats.org/officeDocument/2006/relationships" id="262" r:id="Rf15ecbc66fdd4325"/>
    <p:sldId xmlns:r="http://schemas.openxmlformats.org/officeDocument/2006/relationships" id="263" r:id="Rb72ed8e3cd9d4ae5"/>
    <p:sldId xmlns:r="http://schemas.openxmlformats.org/officeDocument/2006/relationships" id="264" r:id="Radafaacd8edb487b"/>
    <p:sldId xmlns:r="http://schemas.openxmlformats.org/officeDocument/2006/relationships" id="265" r:id="R2c2b0dbf3b924f31"/>
    <p:sldId xmlns:r="http://schemas.openxmlformats.org/officeDocument/2006/relationships" id="266" r:id="R6718c986d4fc4ad1"/>
    <p:sldId xmlns:r="http://schemas.openxmlformats.org/officeDocument/2006/relationships" id="267" r:id="Rd79d26e706dd4e63"/>
    <p:sldId xmlns:r="http://schemas.openxmlformats.org/officeDocument/2006/relationships" id="268" r:id="Re92cd38850c84caf"/>
    <p:sldId xmlns:r="http://schemas.openxmlformats.org/officeDocument/2006/relationships" id="269" r:id="Ra0141f93c7b74ec6"/>
    <p:sldId xmlns:r="http://schemas.openxmlformats.org/officeDocument/2006/relationships" id="270" r:id="R24f081fefb8b4076"/>
    <p:sldId xmlns:r="http://schemas.openxmlformats.org/officeDocument/2006/relationships" id="271" r:id="Rc7e0ff31fcc84a96"/>
    <p:sldId xmlns:r="http://schemas.openxmlformats.org/officeDocument/2006/relationships" id="272" r:id="R9f7eb238ba1f4e16"/>
    <p:sldId xmlns:r="http://schemas.openxmlformats.org/officeDocument/2006/relationships" id="273" r:id="R6073fe48e76c468a"/>
    <p:sldId xmlns:r="http://schemas.openxmlformats.org/officeDocument/2006/relationships" id="274" r:id="R25a92504700e4239"/>
    <p:sldId xmlns:r="http://schemas.openxmlformats.org/officeDocument/2006/relationships" id="275" r:id="R79ffeb6b92e148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c865ac814842f3" /><Relationship Type="http://schemas.openxmlformats.org/officeDocument/2006/relationships/slideMaster" Target="/ppt/slideMasters/slideMaster1.xml" Id="Rf108f0850b3f496d" /><Relationship Type="http://schemas.openxmlformats.org/officeDocument/2006/relationships/notesMaster" Target="/ppt/notesMasters/notesMaster1.xml" Id="R3f8db9f4416f43c5" /><Relationship Type="http://schemas.openxmlformats.org/officeDocument/2006/relationships/presProps" Target="/ppt/presProps.xml" Id="R06e007e2f6214340" /><Relationship Type="http://schemas.openxmlformats.org/officeDocument/2006/relationships/tableStyles" Target="/ppt/tableStyles.xml" Id="Ra74da99dfb89451c" /><Relationship Type="http://schemas.openxmlformats.org/officeDocument/2006/relationships/slide" Target="/ppt/slides/slide1.xml" Id="R44b23db22ebe4141" /><Relationship Type="http://schemas.openxmlformats.org/officeDocument/2006/relationships/slide" Target="/ppt/slides/slide2.xml" Id="R976c642a850a46e1" /><Relationship Type="http://schemas.openxmlformats.org/officeDocument/2006/relationships/slide" Target="/ppt/slides/slide3.xml" Id="Rdfd550426d354161" /><Relationship Type="http://schemas.openxmlformats.org/officeDocument/2006/relationships/slide" Target="/ppt/slides/slide4.xml" Id="R96f0cc24110c4578" /><Relationship Type="http://schemas.openxmlformats.org/officeDocument/2006/relationships/slide" Target="/ppt/slides/slide5.xml" Id="R79871605df724bee" /><Relationship Type="http://schemas.openxmlformats.org/officeDocument/2006/relationships/slide" Target="/ppt/slides/slide6.xml" Id="R3dbd4786785a496c" /><Relationship Type="http://schemas.openxmlformats.org/officeDocument/2006/relationships/slide" Target="/ppt/slides/slide7.xml" Id="Rf15ecbc66fdd4325" /><Relationship Type="http://schemas.openxmlformats.org/officeDocument/2006/relationships/slide" Target="/ppt/slides/slide8.xml" Id="Rb72ed8e3cd9d4ae5" /><Relationship Type="http://schemas.openxmlformats.org/officeDocument/2006/relationships/slide" Target="/ppt/slides/slide9.xml" Id="Radafaacd8edb487b" /><Relationship Type="http://schemas.openxmlformats.org/officeDocument/2006/relationships/slide" Target="/ppt/slides/slide10.xml" Id="R2c2b0dbf3b924f31" /><Relationship Type="http://schemas.openxmlformats.org/officeDocument/2006/relationships/slide" Target="/ppt/slides/slide11.xml" Id="R6718c986d4fc4ad1" /><Relationship Type="http://schemas.openxmlformats.org/officeDocument/2006/relationships/slide" Target="/ppt/slides/slide12.xml" Id="Rd79d26e706dd4e63" /><Relationship Type="http://schemas.openxmlformats.org/officeDocument/2006/relationships/slide" Target="/ppt/slides/slide13.xml" Id="Re92cd38850c84caf" /><Relationship Type="http://schemas.openxmlformats.org/officeDocument/2006/relationships/slide" Target="/ppt/slides/slide14.xml" Id="Ra0141f93c7b74ec6" /><Relationship Type="http://schemas.openxmlformats.org/officeDocument/2006/relationships/slide" Target="/ppt/slides/slide15.xml" Id="R24f081fefb8b4076" /><Relationship Type="http://schemas.openxmlformats.org/officeDocument/2006/relationships/slide" Target="/ppt/slides/slide16.xml" Id="Rc7e0ff31fcc84a96" /><Relationship Type="http://schemas.openxmlformats.org/officeDocument/2006/relationships/slide" Target="/ppt/slides/slide17.xml" Id="R9f7eb238ba1f4e16" /><Relationship Type="http://schemas.openxmlformats.org/officeDocument/2006/relationships/slide" Target="/ppt/slides/slide18.xml" Id="R6073fe48e76c468a" /><Relationship Type="http://schemas.openxmlformats.org/officeDocument/2006/relationships/slide" Target="/ppt/slides/slide19.xml" Id="R25a92504700e4239" /><Relationship Type="http://schemas.openxmlformats.org/officeDocument/2006/relationships/slide" Target="/ppt/slides/slide20.xml" Id="R79ffeb6b92e1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945f3a0db2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91f8a129b64585" /><Relationship Type="http://schemas.openxmlformats.org/officeDocument/2006/relationships/notesMaster" Target="/ppt/notesMasters/notesMaster1.xml" Id="R342dd45886b646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3aacf6258f4ef1" /><Relationship Type="http://schemas.openxmlformats.org/officeDocument/2006/relationships/notesMaster" Target="/ppt/notesMasters/notesMaster1.xml" Id="Rc845a7f24bff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eca04d12364f3c" /><Relationship Type="http://schemas.openxmlformats.org/officeDocument/2006/relationships/notesMaster" Target="/ppt/notesMasters/notesMaster1.xml" Id="Rfc0dc695f38548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480036a49942e1" /><Relationship Type="http://schemas.openxmlformats.org/officeDocument/2006/relationships/notesMaster" Target="/ppt/notesMasters/notesMaster1.xml" Id="R19f20392765044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c09bf2878a4183" /><Relationship Type="http://schemas.openxmlformats.org/officeDocument/2006/relationships/notesMaster" Target="/ppt/notesMasters/notesMaster1.xml" Id="R1fed2ec010c2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2cc2dee6424cab" /><Relationship Type="http://schemas.openxmlformats.org/officeDocument/2006/relationships/notesMaster" Target="/ppt/notesMasters/notesMaster1.xml" Id="R750b7110e0254e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4267cd896b44df" /><Relationship Type="http://schemas.openxmlformats.org/officeDocument/2006/relationships/notesMaster" Target="/ppt/notesMasters/notesMaster1.xml" Id="Rf3fb07c22b5a4f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1d3a6b282461e" /><Relationship Type="http://schemas.openxmlformats.org/officeDocument/2006/relationships/notesMaster" Target="/ppt/notesMasters/notesMaster1.xml" Id="R3215e908ccd040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1bbebab94a42be" /><Relationship Type="http://schemas.openxmlformats.org/officeDocument/2006/relationships/notesMaster" Target="/ppt/notesMasters/notesMaster1.xml" Id="Rb02877897e024f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d2a743b5954604" /><Relationship Type="http://schemas.openxmlformats.org/officeDocument/2006/relationships/notesMaster" Target="/ppt/notesMasters/notesMaster1.xml" Id="R836960259bd940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0dd97c3e574223" /><Relationship Type="http://schemas.openxmlformats.org/officeDocument/2006/relationships/notesMaster" Target="/ppt/notesMasters/notesMaster1.xml" Id="R11c76837325c46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61bf8d017242fe" /><Relationship Type="http://schemas.openxmlformats.org/officeDocument/2006/relationships/notesMaster" Target="/ppt/notesMasters/notesMaster1.xml" Id="R20e15046db8242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bdc19dbbd84a26" /><Relationship Type="http://schemas.openxmlformats.org/officeDocument/2006/relationships/notesMaster" Target="/ppt/notesMasters/notesMaster1.xml" Id="Re82ef032a48149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02831bd98c4365" /><Relationship Type="http://schemas.openxmlformats.org/officeDocument/2006/relationships/notesMaster" Target="/ppt/notesMasters/notesMaster1.xml" Id="Rca9cb0c239c047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cd99604b4f4bad" /><Relationship Type="http://schemas.openxmlformats.org/officeDocument/2006/relationships/notesMaster" Target="/ppt/notesMasters/notesMaster1.xml" Id="R5c7247cf22f443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d9bde7fadb423d" /><Relationship Type="http://schemas.openxmlformats.org/officeDocument/2006/relationships/notesMaster" Target="/ppt/notesMasters/notesMaster1.xml" Id="R4424ac480b5c44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76187e797442f2" /><Relationship Type="http://schemas.openxmlformats.org/officeDocument/2006/relationships/notesMaster" Target="/ppt/notesMasters/notesMaster1.xml" Id="Rb641b1ae19e345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5f649a4458440e" /><Relationship Type="http://schemas.openxmlformats.org/officeDocument/2006/relationships/notesMaster" Target="/ppt/notesMasters/notesMaster1.xml" Id="R3a6ea094d3464d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bebe365930447c" /><Relationship Type="http://schemas.openxmlformats.org/officeDocument/2006/relationships/notesMaster" Target="/ppt/notesMasters/notesMaster1.xml" Id="R6c9b1f96374e47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f5fe38ea6c4c97" /><Relationship Type="http://schemas.openxmlformats.org/officeDocument/2006/relationships/notesMaster" Target="/ppt/notesMasters/notesMaster1.xml" Id="R8d6c7d2b0bf5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- Internal synthetic project source: Models/model_metadata.json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Data/Processed/executive_kpis.csv</a:t>
            </a:r>
          </a:p>
          <a:p xmlns:a="http://schemas.openxmlformats.org/drawingml/2006/main">
            <a:r>
              <a:t>- Internal synthetic project source: Images/executive-overview.png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Docs/methodology.md</a:t>
            </a:r>
          </a:p>
          <a:p xmlns:a="http://schemas.openxmlformats.org/drawingml/2006/main">
            <a:r>
              <a:t>- Internal synthetic project source: Docs/campaign_playbook.md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- Internal synthetic project source: PowerBI/Customer_Intelligence_PBIP.zip</a:t>
            </a:r>
          </a:p>
          <a:p xmlns:a="http://schemas.openxmlformats.org/drawingml/2006/main">
            <a:r>
              <a:t>- Internal synthetic project source: Excel/Customer_Intelligence_CLV_Churn_Campaign_Planner.xlsx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Data/Raw/dim_customers.csv</a:t>
            </a:r>
          </a:p>
          <a:p xmlns:a="http://schemas.openxmlformats.org/drawingml/2006/main">
            <a:r>
              <a:t>- Internal synthetic project source: Data/Raw/fact_orders.csv</a:t>
            </a:r>
          </a:p>
          <a:p xmlns:a="http://schemas.openxmlformats.org/drawingml/2006/main">
            <a:r>
              <a:t>- Internal synthetic project source: Models/model_metadata.json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Images/architecture.png</a:t>
            </a:r>
          </a:p>
          <a:p xmlns:a="http://schemas.openxmlformats.org/drawingml/2006/main">
            <a:r>
              <a:t>- Internal synthetic project source: Python/src/customer_intelligence/pipeline.py</a:t>
            </a:r>
          </a:p>
          <a:p xmlns:a="http://schemas.openxmlformats.org/drawingml/2006/main">
            <a:r>
              <a:t>- Internal synthetic project source: SQL/schema.sql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Data/Processed/customer_360.csv</a:t>
            </a:r>
          </a:p>
          <a:p xmlns:a="http://schemas.openxmlformats.org/drawingml/2006/main">
            <a:r>
              <a:t>- Internal synthetic project source: Images/customer-360.png</a:t>
            </a:r>
          </a:p>
          <a:p xmlns:a="http://schemas.openxmlformats.org/drawingml/2006/main">
            <a:r>
              <a:t>- Internal synthetic project source: PowerBI/Customer_Intelligence_PBIP/Customer_Intelligence_Analytics.SemanticModel/model.bim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Data/Processed/rfm_scores.csv</a:t>
            </a:r>
          </a:p>
          <a:p xmlns:a="http://schemas.openxmlformats.org/drawingml/2006/main">
            <a:r>
              <a:t>- Internal synthetic project source: Data/Processed/segment_summary.csv</a:t>
            </a:r>
          </a:p>
          <a:p xmlns:a="http://schemas.openxmlformats.org/drawingml/2006/main">
            <a:r>
              <a:t>- Internal synthetic project source: Images/rfm-segmentation.png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Data/Processed/cohort_retention_matrix.csv</a:t>
            </a:r>
          </a:p>
          <a:p xmlns:a="http://schemas.openxmlformats.org/drawingml/2006/main">
            <a:r>
              <a:t>- Internal synthetic project source: Data/Processed/cohort_retention_long.csv</a:t>
            </a:r>
          </a:p>
          <a:p xmlns:a="http://schemas.openxmlformats.org/drawingml/2006/main">
            <a:r>
              <a:t>- Internal synthetic project source: Images/cohort-retention.png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Data/Processed/clv_model_comparison.csv</a:t>
            </a:r>
          </a:p>
          <a:p xmlns:a="http://schemas.openxmlformats.org/drawingml/2006/main">
            <a:r>
              <a:t>- Internal synthetic project source: Data/Processed/clv_predictions.csv</a:t>
            </a:r>
          </a:p>
          <a:p xmlns:a="http://schemas.openxmlformats.org/drawingml/2006/main">
            <a:r>
              <a:t>- Internal synthetic project source: Images/clv-analysis.png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Python/src/customer_intelligence/features.py</a:t>
            </a:r>
          </a:p>
          <a:p xmlns:a="http://schemas.openxmlformats.org/drawingml/2006/main">
            <a:r>
              <a:t>- Internal synthetic project source: Python/src/customer_intelligence/modeling.py</a:t>
            </a:r>
          </a:p>
          <a:p xmlns:a="http://schemas.openxmlformats.org/drawingml/2006/main">
            <a:r>
              <a:t>- Internal synthetic project source: Models/model_metadata.json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Data/Processed/churn_predictions.csv</a:t>
            </a:r>
          </a:p>
          <a:p xmlns:a="http://schemas.openxmlformats.org/drawingml/2006/main">
            <a:r>
              <a:t>- Internal synthetic project source: Data/Processed/risk_bands.csv</a:t>
            </a:r>
          </a:p>
          <a:p xmlns:a="http://schemas.openxmlformats.org/drawingml/2006/main">
            <a:r>
              <a:t>- Internal synthetic project source: Images/churn-risk.png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Data/Processed/churn_model_comparison.csv</a:t>
            </a:r>
          </a:p>
          <a:p xmlns:a="http://schemas.openxmlformats.org/drawingml/2006/main">
            <a:r>
              <a:t>- Internal synthetic project source: Data/Processed/churn_calibration.csv</a:t>
            </a:r>
          </a:p>
          <a:p xmlns:a="http://schemas.openxmlformats.org/drawingml/2006/main">
            <a:r>
              <a:t>- Internal synthetic project source: Images/model-performance.png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Data/Processed/shap_global_importance.csv</a:t>
            </a:r>
          </a:p>
          <a:p xmlns:a="http://schemas.openxmlformats.org/drawingml/2006/main">
            <a:r>
              <a:t>- Internal synthetic project source: Data/Processed/shap_local_explanations.csv</a:t>
            </a:r>
          </a:p>
          <a:p xmlns:a="http://schemas.openxmlformats.org/drawingml/2006/main">
            <a:r>
              <a:t>- Internal synthetic project source: Python/src/customer_intelligence/explainability.py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Data/Processed/fairness_audit.csv</a:t>
            </a:r>
          </a:p>
          <a:p xmlns:a="http://schemas.openxmlformats.org/drawingml/2006/main">
            <a:r>
              <a:t>- Internal synthetic project source: Data/Processed/drift_monitoring.csv</a:t>
            </a:r>
          </a:p>
          <a:p xmlns:a="http://schemas.openxmlformats.org/drawingml/2006/main">
            <a:r>
              <a:t>- Internal synthetic project source: Data/Processed/data_quality_report.csv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Data/Processed/campaign_targets.csv</a:t>
            </a:r>
          </a:p>
          <a:p xmlns:a="http://schemas.openxmlformats.org/drawingml/2006/main">
            <a:r>
              <a:t>- Internal synthetic project source: Data/Processed/campaign_summary.csv</a:t>
            </a:r>
          </a:p>
          <a:p xmlns:a="http://schemas.openxmlformats.org/drawingml/2006/main">
            <a:r>
              <a:t>- Internal synthetic project source: Images/campaign-targeting.png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Data/Processed/campaign_summary.csv</a:t>
            </a:r>
          </a:p>
          <a:p xmlns:a="http://schemas.openxmlformats.org/drawingml/2006/main">
            <a:r>
              <a:t>- Internal synthetic project source: Excel/Customer_Intelligence_CLV_Churn_Campaign_Planner.xlsx</a:t>
            </a:r>
          </a:p>
          <a:p xmlns:a="http://schemas.openxmlformats.org/drawingml/2006/main">
            <a:r>
              <a:t>- Internal synthetic project source: Python/src/customer_intelligence/campaign.py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PowerBI/Customer_Intelligence_PBIP.zip</a:t>
            </a:r>
          </a:p>
          <a:p xmlns:a="http://schemas.openxmlformats.org/drawingml/2006/main">
            <a:r>
              <a:t>- Internal synthetic project source: Tableau/Customer_Intelligence_Dashboard.twb</a:t>
            </a:r>
          </a:p>
          <a:p xmlns:a="http://schemas.openxmlformats.org/drawingml/2006/main">
            <a:r>
              <a:t>- Internal synthetic project source: API/main.py</a:t>
            </a:r>
          </a:p>
          <a:p xmlns:a="http://schemas.openxmlformats.org/drawingml/2006/main">
            <a:r>
              <a:t>- Internal synthetic project source: App/streamlit_app.py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Docs/model_monitoring.md</a:t>
            </a:r>
          </a:p>
          <a:p xmlns:a="http://schemas.openxmlformats.org/drawingml/2006/main">
            <a:r>
              <a:t>- Internal synthetic project source: Docs/campaign_playbook.md</a:t>
            </a:r>
          </a:p>
          <a:p xmlns:a="http://schemas.openxmlformats.org/drawingml/2006/main">
            <a:r>
              <a:t>- Internal synthetic project source: Docs/privacy_ethics.md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ebceba9864b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eb56f045e5496b" /><Relationship Type="http://schemas.openxmlformats.org/officeDocument/2006/relationships/slideLayout" Target="/ppt/slideLayouts/slideLayout1.xml" Id="R29a742faf9a0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a742faf9a0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c33aaebe44a4e" /><Relationship Type="http://schemas.openxmlformats.org/officeDocument/2006/relationships/notesSlide" Target="/ppt/notesSlides/notesSlide1.xml" Id="R77e772543d0940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3cc0072434737" /><Relationship Type="http://schemas.openxmlformats.org/officeDocument/2006/relationships/image" Target="/ppt/media/image.png" Id="R1258594de5e54379" /><Relationship Type="http://schemas.openxmlformats.org/officeDocument/2006/relationships/notesSlide" Target="/ppt/notesSlides/notesSlide2.xml" Id="R9d32f1cbac6945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78e073f374821" /><Relationship Type="http://schemas.openxmlformats.org/officeDocument/2006/relationships/notesSlide" Target="/ppt/notesSlides/notesSlide3.xml" Id="Rcff6701f779347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bef465ad54a56" /><Relationship Type="http://schemas.openxmlformats.org/officeDocument/2006/relationships/notesSlide" Target="/ppt/notesSlides/notesSlide4.xml" Id="R3ccc1d76e94344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2eac1bb60423e" /><Relationship Type="http://schemas.openxmlformats.org/officeDocument/2006/relationships/notesSlide" Target="/ppt/notesSlides/notesSlide5.xml" Id="R79fffb818ff944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de5c4a5e4f99" /><Relationship Type="http://schemas.openxmlformats.org/officeDocument/2006/relationships/image" Target="/ppt/media/image2.png" Id="Re392d80324334584" /><Relationship Type="http://schemas.openxmlformats.org/officeDocument/2006/relationships/notesSlide" Target="/ppt/notesSlides/notesSlide6.xml" Id="Rb17d521a889d48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0b939f50845c0" /><Relationship Type="http://schemas.openxmlformats.org/officeDocument/2006/relationships/image" Target="/ppt/media/image3.png" Id="R1afe392b86d047bc" /><Relationship Type="http://schemas.openxmlformats.org/officeDocument/2006/relationships/notesSlide" Target="/ppt/notesSlides/notesSlide7.xml" Id="R6f6fcbd881e04d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ea5c1b9794133" /><Relationship Type="http://schemas.openxmlformats.org/officeDocument/2006/relationships/image" Target="/ppt/media/image4.png" Id="Re5c5e7e9b8624a87" /><Relationship Type="http://schemas.openxmlformats.org/officeDocument/2006/relationships/notesSlide" Target="/ppt/notesSlides/notesSlide8.xml" Id="R47cd074c7fe04e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c02138bc14a81" /><Relationship Type="http://schemas.openxmlformats.org/officeDocument/2006/relationships/image" Target="/ppt/media/image5.png" Id="Rd214070c999f4d94" /><Relationship Type="http://schemas.openxmlformats.org/officeDocument/2006/relationships/notesSlide" Target="/ppt/notesSlides/notesSlide9.xml" Id="R7bd3919c866048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a5a9df4034cce" /><Relationship Type="http://schemas.openxmlformats.org/officeDocument/2006/relationships/image" Target="/ppt/media/image6.png" Id="R8a3b74af9ef44d91" /><Relationship Type="http://schemas.openxmlformats.org/officeDocument/2006/relationships/notesSlide" Target="/ppt/notesSlides/notesSlide10.xml" Id="R9128f128a9d54b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18b2381084a4e" /><Relationship Type="http://schemas.openxmlformats.org/officeDocument/2006/relationships/notesSlide" Target="/ppt/notesSlides/notesSlide11.xml" Id="Rba7e0035b72c48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3797e6e4b472c" /><Relationship Type="http://schemas.openxmlformats.org/officeDocument/2006/relationships/image" Target="/ppt/media/image7.png" Id="R64110a649b284392" /><Relationship Type="http://schemas.openxmlformats.org/officeDocument/2006/relationships/notesSlide" Target="/ppt/notesSlides/notesSlide12.xml" Id="Raa1b7ff65eeb47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5087a5e8c4aed" /><Relationship Type="http://schemas.openxmlformats.org/officeDocument/2006/relationships/image" Target="/ppt/media/image8.png" Id="Rca77367dd2f54796" /><Relationship Type="http://schemas.openxmlformats.org/officeDocument/2006/relationships/notesSlide" Target="/ppt/notesSlides/notesSlide13.xml" Id="Rdbfce6d6ba144b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4766c9f8e40c2" /><Relationship Type="http://schemas.openxmlformats.org/officeDocument/2006/relationships/image" Target="/ppt/media/image9.png" Id="R0ca9cd6139e849dc" /><Relationship Type="http://schemas.openxmlformats.org/officeDocument/2006/relationships/notesSlide" Target="/ppt/notesSlides/notesSlide14.xml" Id="R4859067b66594f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d6ebc5a3843dd" /><Relationship Type="http://schemas.openxmlformats.org/officeDocument/2006/relationships/notesSlide" Target="/ppt/notesSlides/notesSlide15.xml" Id="R1ec72067cdb849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f2ade6dea4430" /><Relationship Type="http://schemas.openxmlformats.org/officeDocument/2006/relationships/image" Target="/ppt/media/image10.png" Id="Rdb49f8af9fa548ed" /><Relationship Type="http://schemas.openxmlformats.org/officeDocument/2006/relationships/notesSlide" Target="/ppt/notesSlides/notesSlide16.xml" Id="R0d373f206d9b47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046a3376542c8" /><Relationship Type="http://schemas.openxmlformats.org/officeDocument/2006/relationships/chart" Target="/ppt/slides/charts/chart1.xml" Id="Rebe8fb9086ad4658" /><Relationship Type="http://schemas.openxmlformats.org/officeDocument/2006/relationships/notesSlide" Target="/ppt/notesSlides/notesSlide17.xml" Id="Rca9822949ad849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55ab679d44c41" /><Relationship Type="http://schemas.openxmlformats.org/officeDocument/2006/relationships/notesSlide" Target="/ppt/notesSlides/notesSlide18.xml" Id="R89b558b3fc3f48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cc46771db43c0" /><Relationship Type="http://schemas.openxmlformats.org/officeDocument/2006/relationships/notesSlide" Target="/ppt/notesSlides/notesSlide19.xml" Id="R9842b81a398443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df8d1e7ba4697" /><Relationship Type="http://schemas.openxmlformats.org/officeDocument/2006/relationships/notesSlide" Target="/ppt/notesSlides/notesSlide20.xml" Id="Rc86020d64b2f442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Budget (TRY K)</c:v>
          </c:tx>
          <c:spPr>
            <a:solidFill xmlns:a="http://schemas.openxmlformats.org/drawingml/2006/main">
              <a:srgbClr val="F5A623"/>
            </a:solidFill>
          </c:spPr>
          <c:cat>
            <c:strLit>
              <c:ptCount val="6"/>
              <c:pt idx="0">
                <c:v>VIP Experience</c:v>
              </c:pt>
              <c:pt idx="1">
                <c:v>Retain &amp; Reward</c:v>
              </c:pt>
              <c:pt idx="2">
                <c:v>Onboarding</c:v>
              </c:pt>
              <c:pt idx="3">
                <c:v>Cross-Sell</c:v>
              </c:pt>
              <c:pt idx="4">
                <c:v>Win-Back</c:v>
              </c:pt>
              <c:pt idx="5">
                <c:v>Nurture</c:v>
              </c:pt>
            </c:strLit>
          </c:cat>
          <c:val>
            <c:numLit>
              <c:formatCode>0</c:formatCode>
              <c:ptCount val="6"/>
              <c:pt idx="0">
                <c:v>101.175</c:v>
              </c:pt>
              <c:pt idx="1">
                <c:v>79.848</c:v>
              </c:pt>
              <c:pt idx="2">
                <c:v>22.168</c:v>
              </c:pt>
              <c:pt idx="3">
                <c:v>15.876</c:v>
              </c:pt>
              <c:pt idx="4">
                <c:v>13.908</c:v>
              </c:pt>
              <c:pt idx="5">
                <c:v>3.444</c:v>
              </c:pt>
            </c:numLit>
          </c:val>
        </c:ser>
        <c:ser>
          <c:idx val="1"/>
          <c:order val="1"/>
          <c:tx>
            <c:v>Expected Margin (TRY K)</c:v>
          </c:tx>
          <c:spPr>
            <a:solidFill xmlns:a="http://schemas.openxmlformats.org/drawingml/2006/main">
              <a:srgbClr val="26C6A5"/>
            </a:solidFill>
          </c:spPr>
          <c:cat>
            <c:strLit>
              <c:ptCount val="6"/>
              <c:pt idx="0">
                <c:v>VIP Experience</c:v>
              </c:pt>
              <c:pt idx="1">
                <c:v>Retain &amp; Reward</c:v>
              </c:pt>
              <c:pt idx="2">
                <c:v>Onboarding</c:v>
              </c:pt>
              <c:pt idx="3">
                <c:v>Cross-Sell</c:v>
              </c:pt>
              <c:pt idx="4">
                <c:v>Win-Back</c:v>
              </c:pt>
              <c:pt idx="5">
                <c:v>Nurture</c:v>
              </c:pt>
            </c:strLit>
          </c:cat>
          <c:val>
            <c:numLit>
              <c:formatCode>0</c:formatCode>
              <c:ptCount val="6"/>
              <c:pt idx="0">
                <c:v>247.55670598768953</c:v>
              </c:pt>
              <c:pt idx="1">
                <c:v>139.7102126011773</c:v>
              </c:pt>
              <c:pt idx="2">
                <c:v>86.37518353858547</c:v>
              </c:pt>
              <c:pt idx="3">
                <c:v>32.997908864174356</c:v>
              </c:pt>
              <c:pt idx="4">
                <c:v>27.71066338774695</c:v>
              </c:pt>
              <c:pt idx="5">
                <c:v>12.40555473734828</c:v>
              </c:pt>
            </c:numLit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7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7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0C4C4-2245-45C2-8AC9-64B4EC7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60721-D704-4D67-98EF-667BC499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95375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59906-CFC4-4E57-8940-3E39ADA9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02B20-6810-4546-9971-7D5457E0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FF"/>
                </a:solidFill>
              </a:defRPr>
            </a:pPr>
            <a:r>
              <a:rPr sz="900" b="1">
                <a:solidFill>
                  <a:srgbClr val="8FD8FF"/>
                </a:solidFill>
              </a:rPr>
              <a:t>NOVARETAIL GROUP  |  CUSTOMER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E843C-8108-47DC-8218-76BA89EA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800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Customer Intelligence,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CLV &amp; Churn Prediction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719B1-24EA-42BC-8E19-7E6F45DF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7477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6F6"/>
                </a:solidFill>
              </a:defRPr>
            </a:pPr>
            <a:r>
              <a:rPr sz="1425" b="0">
                <a:solidFill>
                  <a:srgbClr val="D8E6F6"/>
                </a:solidFill>
              </a:rPr>
              <a:t>A production-style analytics portfolio connecting customer value, retention risk, explainability and next-best-action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50662-15BF-4263-BCF3-2D486E1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Murat Miraç Gedik  |  Professional Portfolio Project  |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FC772-3F21-4963-87BF-6FEF4F3E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7D9"/>
                </a:solidFill>
              </a:defRPr>
            </a:pPr>
            <a:r>
              <a:rPr sz="750" b="0">
                <a:solidFill>
                  <a:srgbClr val="B7C7D9"/>
                </a:solidFill>
              </a:rPr>
              <a:t>Synthetic portfolio data • 2022–2025 • Production snapshot: 31 Dec 2025 • Currency: 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FD99D-AD5C-4F36-9F9D-B270C17A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2143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RFM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CLV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CHURN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SHAP</a:t>
            </a:r>
          </a:p>
        </p:txBody>
      </p:sp>
    </p:spTree>
    <p:extLst>
      <p:ext uri="{BB962C8B-B14F-4D97-AF65-F5344CB8AC3E}">
        <p14:creationId xmlns:p14="http://schemas.microsoft.com/office/powerpoint/2010/main" val="1017212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5201A-1957-4694-877E-43FDF695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24421-E6EC-46AE-AD91-7F77F324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Executive Decision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06067-FE3E-4BE2-B8B5-C062892E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Value, risk, retention and campaign economics in one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89081-C05E-440F-AC2E-AD9D009C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634ED-6F5A-468D-B2C1-0909ECE0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206FF-82A8-4FED-8843-80C6E54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628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2903F-E834-437E-9587-9F9C3467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B1EC8-1E43-4A67-A552-0ECD45AC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0D28B-D411-4A69-99C9-2FFB599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6,000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0A47F-C6B0-4474-B829-3E33351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4,067 active customers / 12M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30394-4638-4194-9D88-C781DBBC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9700"/>
            <a:ext cx="2628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06C0D-5B8B-40BA-A3E6-0EEF65FA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9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E6D81-ED22-4708-9A3A-8875517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NET REVENUE / 12M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8F2CE-FFE6-4198-8D90-9D50F20F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TRY 55.6M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25266-4E73-4318-82FE-F5B8910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21.3% gross-margin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3BEE0-B78A-4098-BEE2-0BBDE566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2628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CFC91-C893-4A8A-8F83-AD6088CE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647D1-8F5D-4523-A134-AC94DB67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PREDICTED CLV / 12M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62199-6B7E-4EAA-ADB5-47B0E98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TRY 11.9M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CE2B1-3402-4AD8-9CDA-5A140534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Forward gross-margin contribution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BC4CC-69E5-4D9B-B081-D2B752AA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09700"/>
            <a:ext cx="2819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37EC6-3FE2-413D-A98D-296B4C25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09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DE181-E152-4360-93EB-F6A203D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CAMPAIGN UPSIDE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6F48D-66A3-4144-A1F4-A53C272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19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TRY 547K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08CBD-F952-427D-B772-82D9729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TRY 236K allocated budget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02E42-A374-4DA8-A1E4-4B70F475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67437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8594de5e54379"/>
          <a:stretch xmlns:a="http://schemas.openxmlformats.org/drawingml/2006/main"/>
        </p:blipFill>
        <p:spPr>
          <a:xfrm xmlns:a="http://schemas.openxmlformats.org/drawingml/2006/main">
            <a:off x="831850" y="2781300"/>
            <a:ext cx="599440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F11F9-A5C8-4353-AF47-99AB4C8D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4286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7D7017-90CC-4A91-B707-3DCF788B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73A99-7B0F-43C8-A79A-E371FF85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337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Management message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F5EF29-E04F-4022-A135-6439B7C7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48025"/>
            <a:ext cx="3924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2,682 customers are high or critical risk, representing TRY 6.0M of revenue exposure. Risk should be read together with value and intervention economics.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290379-F212-4EEB-84A1-1455A812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52950"/>
            <a:ext cx="4286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4958AF-BA6B-408C-B29F-D3B7CB71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529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EF41B2-8E4E-4683-B738-4F05C0C6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0535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Decision priority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972499-7B3D-4399-9AC4-12746F2F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19675"/>
            <a:ext cx="3924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3,501 customers are prioritized for action. The churn champion delivers 0.867 ROC-AUC and 1.77x lift in the top decile.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6198FE-31CD-4EB4-9403-10C8866C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2004823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79907-AC03-4DE8-BE3D-9B9A1FEC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1189B-4189-416E-8C8C-87FBF2D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Business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CCB33-5A52-4099-8466-369C5320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Turn fragmented customer signals into prioritized commercial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01F36-A0B0-4813-BE36-EE15159E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10F58-3B8F-4D64-8780-D02144B5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02895-8830-4EE3-B98F-1C120D23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8C115-77E1-460F-94CF-395F1C31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2335A-A70B-4557-A23B-8E035A52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Fragmented customer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8E56E-BAAC-4E91-BFCA-4509BB7F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95475"/>
            <a:ext cx="5067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Customer value is incomplete when purchase, digital, support and campaign signals remain disconnected.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8CAB9-D497-43A9-83DB-D3E231BE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9F9FC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157C5-1F7E-4997-927C-1C858E59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C7E8"/>
          </a:solidFill>
          <a:ln xmlns:a="http://schemas.openxmlformats.org/drawingml/2006/main" w="0">
            <a:solidFill>
              <a:srgbClr val="2AC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5AFF1-891A-43FE-8D47-05BECE3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C7E8"/>
                </a:solidFill>
              </a:defRPr>
            </a:pPr>
            <a:r>
              <a:rPr sz="1125" b="1">
                <a:solidFill>
                  <a:srgbClr val="2AC7E8"/>
                </a:solidFill>
              </a:rPr>
              <a:t>Reactive churn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ADEE3-5220-4A95-A629-0582BA3A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95475"/>
            <a:ext cx="5067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Acting after the customer leaves makes retention spend inefficient.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8547E-1BED-44DB-95A1-5E0BAB8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3C4F9-FC4A-42B9-96FC-2ED50B6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86EB9-4830-4C4C-9876-13E0B76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Value-blind targeting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09594-A338-44B8-B29A-F7F006DC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067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Using risk alone can overinvest in low-value customers and miss profitable interventions.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4818B-8315-4DD4-A19B-880B6BCD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81375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39EA0-E66E-4DAE-B13E-8BA08B5F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81375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BA5BC-8281-4D4C-9BA8-CEF6CEEB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33775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Explainability and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FCE9F-1ADA-4E91-8196-78AE56C3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5067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Business teams cannot trust a score when its drivers and usage boundaries are invisible.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F25CA-4736-4AAB-B3CA-F5B57BAE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1087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4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0E6D1-23D6-4C88-93AA-7417CAA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solidFill>
              <a:srgbClr val="0714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529AB-CA72-4FCF-B051-0008466B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72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423"/>
                </a:solidFill>
              </a:defRPr>
            </a:pPr>
            <a:r>
              <a:rPr sz="1125" b="1">
                <a:solidFill>
                  <a:srgbClr val="071423"/>
                </a:solidFill>
              </a:rPr>
              <a:t>Core decision 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CA55A-D991-4773-ABA4-A1962DAA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725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Which customer should receive which intervention, at what time and with what budget?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BAEEF-570E-4E29-938B-469DB561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474557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C7118-1606-4E21-BE90-9303B3A3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5233C-1306-4D1B-9E4D-B6D58460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Scope &amp;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261CD-E762-459F-A75E-9C78CE7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An end-to-end analytical product, not a single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5E614-0D24-4B0A-B8F0-6BD4C022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32489-C000-4E10-A1FA-F4D65DCC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832AB-E0B7-4A9D-B72A-00058C11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DF5CF-7FBE-4C30-9B30-53E53D0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FF"/>
                </a:solidFill>
              </a:defRPr>
            </a:pPr>
            <a:r>
              <a:rPr sz="975" b="1">
                <a:solidFill>
                  <a:srgbClr val="2E8B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5E8F7-5E18-4617-AA6B-9EDA7CCB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617FC-E965-4A60-8929-A49A8727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Synthetic but relational CRM, order and interaction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66445-54A4-49C8-B7BB-420CA93E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19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E08CA-377E-4C25-9AD4-091D7124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9F9FC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C583C-3168-4544-8F28-579D7CEC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C7E8"/>
                </a:solidFill>
              </a:defRPr>
            </a:pPr>
            <a:r>
              <a:rPr sz="975" b="1">
                <a:solidFill>
                  <a:srgbClr val="2AC7E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8B4FA-A02B-4FD0-A53F-DB5CA3FE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F7061-B481-433C-B6A5-C6C4B86D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RFM, cohort, CLV, churn and SHAP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EC27A-D20B-4A5D-B16D-8148E75F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19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08057-DCFF-452D-BE84-139DE2D3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112CC-D08E-47E1-9810-4253D50E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C6A5"/>
                </a:solidFill>
              </a:defRPr>
            </a:pPr>
            <a:r>
              <a:rPr sz="975" b="1">
                <a:solidFill>
                  <a:srgbClr val="26C6A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A9673-A808-4DE4-BDB7-AAA21309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4DD84-CAD5-498C-A4F7-126BDEA9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Risk × value × ROI targeting logic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22BCA-9383-4408-848A-CE6AC82C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C674F-8199-48A7-BEFC-9EE6839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33F52-6CE5-4B35-A763-0025214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7CF5"/>
                </a:solidFill>
              </a:defRPr>
            </a:pPr>
            <a:r>
              <a:rPr sz="975" b="1">
                <a:solidFill>
                  <a:srgbClr val="987CF5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47817-4144-4398-8FDF-DBA1AA0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59860-AF5C-4ABF-AEB3-802905E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BI, Excel, API, SQL and 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12063A-8DF7-4950-95CC-27493FB4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19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DC263-B00E-425D-B973-3152DC04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81452-721D-4D7D-9886-91E9EB0D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623"/>
                </a:solidFill>
              </a:defRPr>
            </a:pPr>
            <a:r>
              <a:rPr sz="975" b="1">
                <a:solidFill>
                  <a:srgbClr val="F5A623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00982-4759-4B17-9A64-D08F95C0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6F9DD-F615-4959-A715-22401EB6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Testing, drift, fairness and documentation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7617D-83E1-4985-B7B5-C3E7D67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8E84BD-B2C5-466C-BBE8-6174CDBA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67125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</a:defRPr>
            </a:pPr>
            <a:r>
              <a:rPr sz="1200" b="0">
                <a:solidFill>
                  <a:srgbClr val="122033"/>
                </a:solidFill>
              </a:rPr>
              <a:t>12-page Power BI PBIP plus reusable DAX measure library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865BC9-4CDF-4A24-BEB8-A78F567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7505E6-F4F3-4EE1-9001-D9211E82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62425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</a:defRPr>
            </a:pPr>
            <a:r>
              <a:rPr sz="1200" b="0">
                <a:solidFill>
                  <a:srgbClr val="122033"/>
                </a:solidFill>
              </a:rPr>
              <a:t>24-sheet formula-backed Excel campaign planning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5EAB1E-1603-41C8-879D-CEF0DA0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E53FE0-9125-49AA-9EBA-FF3B5A3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57725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</a:defRPr>
            </a:pPr>
            <a:r>
              <a:rPr sz="1200" b="0">
                <a:solidFill>
                  <a:srgbClr val="122033"/>
                </a:solidFill>
              </a:rPr>
              <a:t>Tableau workbook, Streamlit app and FastAPI scoring 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4A950C-360D-4FAE-8327-4AA49FD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290F45-3FDA-42D0-990B-40930EFC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53025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</a:defRPr>
            </a:pPr>
            <a:r>
              <a:rPr sz="1200" b="0">
                <a:solidFill>
                  <a:srgbClr val="122033"/>
                </a:solidFill>
              </a:rPr>
              <a:t>20-slide English/Turkish decks and vector HD report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E30EFF-3B86-4E06-8F7D-DEBE0CCB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49720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4759B3-8856-4DF1-86FD-C86BF9BB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7D17AF-E4B9-4F9A-BE67-AAC3FFCF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24275"/>
            <a:ext cx="461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Portfolio strength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81736B-529E-496F-87E8-EF67751D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4610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The project does more than generate predictions: it unifies data engineering, model evaluation, explainability, business rules, visualization, API delivery, testing and governance in one product approach.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FAE026-1198-4CED-A04C-FD43359F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345802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BD3E7-3818-44CF-AB8D-78EF425A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3B47F-23B8-4A4F-B727-1CC4F05A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Data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F4F8A-0C83-45E2-BFE6-25B426FF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Four years of governed, relational and privacy-safe portfolio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F4A70-F264-4A76-8EF1-40C1CBAF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EB4C-11AC-4A8C-92B0-3EC98F47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253B8-87E5-45C2-B46B-93F6A636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9EB64-C16D-4A67-A369-A904EBC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31A71-ADF6-4B49-84E3-ABB95451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97B9D-9ABC-4380-B06A-F939CE02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6,000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860CE-0A15-4F60-889B-EB0D0D82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Demographics, consent and loyalty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05742-FC19-4547-AED1-A4648CDB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09700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9FCAB-B50C-497C-98FF-E85EA5EA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097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C7E8"/>
          </a:solidFill>
          <a:ln xmlns:a="http://schemas.openxmlformats.org/drawingml/2006/main" w="0">
            <a:solidFill>
              <a:srgbClr val="2AC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7EC07-E3C6-4B3A-91A0-1E4295E0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67AE8-24B8-47CC-9663-A47B489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19275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C7E8"/>
                </a:solidFill>
              </a:defRPr>
            </a:pPr>
            <a:r>
              <a:rPr sz="1875" b="1">
                <a:solidFill>
                  <a:srgbClr val="2AC7E8"/>
                </a:solidFill>
              </a:rPr>
              <a:t>50,639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BCA04-05B9-46D3-B049-175A9978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Four-year commercial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6A1DD-EF15-4712-AF37-EC2DCC9C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1E97B-B9E9-4E42-9873-B312B09C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BD55D-AA75-44C0-8609-1D160DAD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71625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ORDER 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5B844-00D5-46B2-95DC-D7B03755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19275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103,044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93FA0-048C-4E78-9166-80B0C73A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Product and margin granularity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431E2-7E3B-4F94-943B-D4479D9B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5C7EC-42C9-429E-819E-56F16C04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AB47E-08BA-478B-A4F8-D836890B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MONTHLY INTERACTIONS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542F5-D546-4F5B-92F9-041F2BB7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130,671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8A6B5-63A4-4F8A-B429-119FD50B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Sessions, email and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40877-B50B-4C1A-994C-91CF9203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52775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5AECFB-C0EB-43FE-93B5-17A0EB74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52775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27AFEA-3245-4B0B-831C-A8C4BE0B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147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CAMPAIGN RESPONSES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94BF2-74F6-4722-B294-F1A56269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62350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12,000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44DE2-046D-429E-A506-7CACA823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Controlled response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88B81D-6708-4B2D-91A9-ECDDD0A8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B0C448-21AC-44E2-A67A-12AAEF35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79"/>
          </a:solidFill>
          <a:ln xmlns:a="http://schemas.openxmlformats.org/drawingml/2006/main" w="0">
            <a:solidFill>
              <a:srgbClr val="16A0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202254-8A03-42FB-88F5-5F442C18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CALENDAR DAYS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21CFBA-F82E-4F7F-86AC-F046B71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A079"/>
                </a:solidFill>
              </a:defRPr>
            </a:pPr>
            <a:r>
              <a:rPr sz="1875" b="1">
                <a:solidFill>
                  <a:srgbClr val="16A079"/>
                </a:solidFill>
              </a:rPr>
              <a:t>1,461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0AC7A3-CDB8-4B2F-A679-10443EB5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0025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Time-intelligence backbone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D924E0-F114-4DE3-95F0-047B93F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087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E25386-29C2-418D-B038-333914F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73B8F4-5026-43CD-8575-3DEC1651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72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Privacy by design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096A5-2CA4-42E6-826D-37475DFE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72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The dataset is fully synthetic and contains no real personal data. Customer keys are anonymous, while marketing consent remains an explicit feature and targeting control.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FEB0EF-6206-445B-A661-B57CF64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2036772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94A5E-32AD-42BE-853E-E549BD55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04D07-7816-4962-9FF9-BE1A5A7D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9E3B5-2ECF-41E3-8F22-B38F257F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A reproducible path from transactions to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FA163-0B13-4C8C-8321-FFCFE620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0CF24-CB73-464F-9966-8851D8F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5D276-C714-4148-88F9-491E0717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0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2d80324334584"/>
          <a:stretch xmlns:a="http://schemas.openxmlformats.org/drawingml/2006/main"/>
        </p:blipFill>
        <p:spPr>
          <a:xfrm xmlns:a="http://schemas.openxmlformats.org/drawingml/2006/main">
            <a:off x="457200" y="1527572"/>
            <a:ext cx="7810500" cy="4393406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C6326-EFE1-484A-A442-2673E1F3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32194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E0EB2-4A97-4ED1-A1AD-BD2F2F8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A5EBD-C409-4F03-B02A-300A759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335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Analytical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C7B03-DC56-41D6-9DED-51C0A28A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478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Python feature engineering, RFM/cohort analysis, churn classification, CLV regression and SHAP explanations.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97E5F-36B3-4947-8C33-766C1C9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71800"/>
            <a:ext cx="32194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BBADE-1919-4957-A788-5AD9912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718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BE193-73FD-48E0-8143-D68A86F8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Decision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AC6C0-E165-4130-9F17-399C3499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3852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Next-best-action rules combining risk, value, consent, cost and expected margin.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68AFA-AFD7-4827-81B1-2B3B33BD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32194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88DDA-7AC4-4AB1-B55A-DC5C68BB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272F5-B73E-4060-AC78-CEB5CE6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14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Delivery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B618B-87E5-4540-A7F9-DEE81FF9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292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Power BI, Excel, Tableau, Streamlit, FastAPI, SQL and executive reporting.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A5F8B-0F8C-4462-9A61-723F749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552109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F05B06-3D6D-45D3-942B-CE678975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6272D-0CB0-406A-8A4C-E3CB41A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Customer 360 &amp; Semantic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CCBC5-99DD-4799-BB49-25A197C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One customer-level decision record across value, risk and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DFD4F-6269-4F96-B219-9199F433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CC619-64D3-4F4A-BCD4-763A499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8BD49-E8C7-4998-9855-D659FC5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7000875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e392b86d047bc"/>
          <a:stretch xmlns:a="http://schemas.openxmlformats.org/drawingml/2006/main"/>
        </p:blipFill>
        <p:spPr>
          <a:xfrm xmlns:a="http://schemas.openxmlformats.org/drawingml/2006/main">
            <a:off x="457200" y="1669554"/>
            <a:ext cx="7000875" cy="3937992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8D877-C0B3-4A54-BD7D-8C869B37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FA602-FBF1-4D50-B6A2-1CDD1576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52BA2-9AD6-4019-854B-120C54E2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Who?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1D19E-7875-4803-83E5-A515D5A2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7642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Region, channel, loyalty tier and marketing consent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63BC9-99CF-4B31-9C91-72E18FCC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AC9F4-C21C-43AD-9F5A-DB0881DF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C7E8"/>
          </a:solidFill>
          <a:ln xmlns:a="http://schemas.openxmlformats.org/drawingml/2006/main" w="0">
            <a:solidFill>
              <a:srgbClr val="2AC7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A4C95-539D-4803-AEAA-6A05C2A8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C7E8"/>
                </a:solidFill>
              </a:defRPr>
            </a:pPr>
            <a:r>
              <a:rPr sz="1125" b="1">
                <a:solidFill>
                  <a:srgbClr val="2AC7E8"/>
                </a:solidFill>
              </a:rPr>
              <a:t>What happened?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0C084-8797-41B5-B32E-FACC6C82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12-month orders, revenue, margin and returns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6E236-B0EC-4494-8B09-1EAE91BB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CD0B6-ED06-4B7D-BBB2-FB43A6F0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CA9E8-0B15-4106-A36A-43FD929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What is the value?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E973D-9FF2-44F2-8077-286B125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RFM segment, CLV forecast and value band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83325-18A9-4A80-B3E7-FEB4777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DDAF1-0A63-4CA5-8A5D-C3A05805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2494B-E7CC-43CD-A0D6-F278898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What is the risk?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470CF8-02EB-4862-9895-034734B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6247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90-day churn probability, risk tier and SHAP reasons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8B7BF-3BEF-4994-80DB-434E661C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9110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A0555-CA69-45AD-8AE1-1F7D157C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911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25D029-0A7F-44C5-AA5D-FA4EFE1C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What next?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EC617-0C91-4FC3-9655-0C056D04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Recommended action, treatment cost and expected ROI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963BE-E6F6-4AC4-8D85-A779F77F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7411204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530A3B-492E-4589-888D-CDAFF72D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489D9-1F82-479C-8C58-0CFEC5DC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RFM Segmentation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0617C-81B1-46B1-BA4D-A29FFBAD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Behavioral groups connect customer strategy to measurable 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49A33-C99C-4FD6-BC38-437DC7E0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97099-4E29-45A2-90F0-3D38B64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8D790-837D-415D-99AB-7096C573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429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5e7e9b8624a87"/>
          <a:stretch xmlns:a="http://schemas.openxmlformats.org/drawingml/2006/main"/>
        </p:blipFill>
        <p:spPr>
          <a:xfrm xmlns:a="http://schemas.openxmlformats.org/drawingml/2006/main">
            <a:off x="457200" y="1672828"/>
            <a:ext cx="7429500" cy="4179094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8CF15-9CB7-4AA5-BE92-CE02B90C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81125"/>
            <a:ext cx="3600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0DBFF-D958-413C-96E3-BCDB4C31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81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293AF-0F6A-4B2F-A8F5-19A8CDED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43050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CHAMPIONS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AA793-951B-457E-BFE2-725E839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TRY 7.3M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5503A-7E26-429B-AA47-DA53FF1F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83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1,612 customers • 19.0%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2DD19-3571-4C3D-B1A8-4F11F1A5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3600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01A68-899A-4E67-841F-301A5FE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6BAE7-E97D-4E1E-AFFD-AC5B7ACC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2417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LOYAL CUSTOMERS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9F26F-9893-4960-9692-4B80436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TRY 1.7M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48AFE-D16E-4E15-8B92-3E8BB75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712 customers • 36.7%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6768B-5281-4727-9128-B3673099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3600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B4798-2BEA-4CAC-9936-B41D064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3B73F-3E23-4002-B0E0-2F9C7139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POTENTIAL LOYALISTS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8A5CB-8218-49F1-899E-D765DB25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TRY 1.4M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62008-F2B7-4869-AA76-4A35E8A8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006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635 customers • 34.2%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4207E-C184-4B97-9FFF-8DF07AED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24500"/>
            <a:ext cx="36004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14D97-8D5D-4546-B8E0-3A5A6337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24500"/>
            <a:ext cx="571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8AB67A-A86C-4593-840B-1F9C7AEB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769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Commercial interpretation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BC259-4573-4A5F-9A14-3532B815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91225"/>
            <a:ext cx="32385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Champions anchor the CLV portfolio; at-risk groups require selective, economics-led win-back.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43D21-999A-4EC0-8E65-9CC42C2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161477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78C9D-8011-43EA-9472-12B3274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D1BC5-2315-4193-9A2C-B706213D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Cohort Retention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306A1-9D73-44A5-92D9-4C00482B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Acquisition quality is measured beyond the first purchase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DAE7D-51FF-4E0F-B7B4-BD84E0C8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5CE6D-D75E-4447-86AE-607E37CD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A8306-90E7-425C-8586-02547ECA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9057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4070c999f4d94"/>
          <a:stretch xmlns:a="http://schemas.openxmlformats.org/drawingml/2006/main"/>
        </p:blipFill>
        <p:spPr>
          <a:xfrm xmlns:a="http://schemas.openxmlformats.org/drawingml/2006/main">
            <a:off x="457200" y="1538883"/>
            <a:ext cx="7905750" cy="4446984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DA0B0-5E1E-49E6-8D80-0E0773C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81125"/>
            <a:ext cx="312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85BE3-73DE-4FBA-B181-89906524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81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329BA-B946-479F-9F59-C003AD6C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430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MONTH-3 RETENTION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0A661-7A93-4509-ABAB-760947A5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35.1%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CE7DD-438B-4F9C-9443-CF57BB8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Average across cohorts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5E80C-9962-47D7-B21A-0C4169AB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52725"/>
            <a:ext cx="312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5EC6E-6C62-4843-A943-E759DAFC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527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4F28E-6A75-4125-A5CC-80EC99D8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146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COHORT HORIZON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34F53-7F39-4246-862C-EA75F51F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623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M0–M12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53500-3FEC-4BFD-9127-94CAB542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99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Months after first purchase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ACA4E-FB75-4D1B-89C9-E254791A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24325"/>
            <a:ext cx="31242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E3136-8247-44E0-B010-656C5AC4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24325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5F276-9037-4311-9BED-199E4299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767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How to use 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43BF4-FE54-49ED-9AA0-1B00950C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762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Compare acquisition months, link early decay to channel, offer and onboarding quality, and avoid relying on aggregate active-customer counts alone.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8BE5B-48C3-4328-8054-45DA8D44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790993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57FBEB-924C-40DF-AA8B-77190355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42451-8D39-4754-938F-F8156B95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Predictive CLV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8C52C-BA73-4784-89CD-57B64F54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Twelve-month gross-margin contribution guides value-based prioritization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26535-6382-4BCD-89FF-67870536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33C57-B001-4E25-9DF7-ABE8C875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B0701-CB03-4FDF-9FEC-E38D9756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38187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b74af9ef44d91"/>
          <a:stretch xmlns:a="http://schemas.openxmlformats.org/drawingml/2006/main"/>
        </p:blipFill>
        <p:spPr>
          <a:xfrm xmlns:a="http://schemas.openxmlformats.org/drawingml/2006/main">
            <a:off x="457200" y="1686223"/>
            <a:ext cx="7381875" cy="4152305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CA56-3884-4D7D-AC4E-5E93A1C1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381125"/>
            <a:ext cx="3648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C777D-91B6-4B24-AAA5-B826AA90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3811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08F7D-5C34-4669-B728-B68F85B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43050"/>
            <a:ext cx="3305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CHAMPION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E0BCC-0CF9-4BB3-BA68-67934063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90700"/>
            <a:ext cx="330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Random Forest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C5F0D-380B-4AF5-8145-388BA06E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38375"/>
            <a:ext cx="3305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12-month gross-margin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F75FB-B739-4A5B-A450-73D596AE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76525"/>
            <a:ext cx="1743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E2B1F-C1A0-43B7-9DF0-3985749D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765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3BAC1-4AE9-41C1-B10E-1D869B4B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384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806EB-9EED-4D32-BA6B-3E933F63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86100"/>
            <a:ext cx="1400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TRY 1.3K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CC83D-687A-499B-9361-5916A36B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337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Holdout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85F2B-74B5-4084-A5FD-49242FCE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76525"/>
            <a:ext cx="1743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03D19-E62B-483C-9D56-CCBF66B4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765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9C016-2EF9-4D80-A7E1-4DDE3C84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384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R²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9B2D0-838F-4F8F-BE6F-5AA154A9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86100"/>
            <a:ext cx="1400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0.564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F73D9-EC4D-49C1-A491-9BDC68A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5337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Explained variance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A347E-8E7F-4E0C-B921-F72E4887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71925"/>
            <a:ext cx="1743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8AFE8-C511-4F33-9ED2-96CDA8EE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719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58B4A-4581-42CB-BC0C-1F28652D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338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SPEARMAN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E30C8-0E74-411E-B9D0-0338137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81500"/>
            <a:ext cx="1400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0.792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E1098-2726-46CF-8FDB-C2AAFCD6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8291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Ranking power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CE2F80-AC19-41C0-BB45-7A95A494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971925"/>
            <a:ext cx="1743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20948-70D7-4F35-81B5-9E9944E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9719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0F16A4-6FC8-4DA3-856C-1BEF68C0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1338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PORTFOLIO CLV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15727-67AB-430B-84F5-E18E4DF7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81500"/>
            <a:ext cx="1400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TRY 11.9M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FEEA0-6807-448D-BAAF-E0D6BAD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8291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Forward 12M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B94F59-FACD-4C76-8711-9F9B1C70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67325"/>
            <a:ext cx="3648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A7E601-8C84-4240-869F-269F604A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6732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70E9D-036B-4B8F-9D23-954F939D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19725"/>
            <a:ext cx="328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Decision use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FA69C3-1D0A-4016-9375-0EF07958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7340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CLV is a prioritization factor for offer cost, service level and retention budget.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8D8519-F2B9-4178-A6AE-0923FAF3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1637183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5FD68-DB0A-4781-ACC7-F0F81C4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7385D-16D5-468D-83A7-3E7D5978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Churn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25106-B58D-4E5B-897F-65C59CFB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Time-aware labels, calibration and threshold governance reduce leakage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2D9BC-A8E8-44C2-97F4-F98F83E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46844-69E4-43D7-9678-F801AF6D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7A3B8-CCF3-4300-A337-388BD6B8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03501-528F-4714-8650-D609A6A4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FF"/>
                </a:solidFill>
              </a:defRPr>
            </a:pPr>
            <a:r>
              <a:rPr sz="975" b="1">
                <a:solidFill>
                  <a:srgbClr val="2E8B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5200D-D213-461C-B46C-6E68E36B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Build snapshots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00CD0-C567-4EF0-B829-2C57E8EB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Historical features from 2024 quarterly cutoffs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CC301-DFC3-4927-B8FF-59638858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57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5945A-9D68-44E0-B776-28AE5E1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9F9FC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25737-2CA3-44EC-8456-CED1DB60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C7E8"/>
                </a:solidFill>
              </a:defRPr>
            </a:pPr>
            <a:r>
              <a:rPr sz="975" b="1">
                <a:solidFill>
                  <a:srgbClr val="2AC7E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72F63-113A-42F0-BC5C-40C9D09D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0B370-9A25-41F3-A35A-8E933CFA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No purchase in next 90 days means churn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6CB0F-4C5B-4C56-A7EF-54FF5B40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B0255-DEF8-4A39-8777-503D1AD9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8F496-D97E-4746-8F16-9F1CD36B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C6A5"/>
                </a:solidFill>
              </a:defRPr>
            </a:pPr>
            <a:r>
              <a:rPr sz="975" b="1">
                <a:solidFill>
                  <a:srgbClr val="26C6A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35D41-FBCF-486B-8E0C-20D30103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D98E9-F555-447A-94E4-279BF82B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31 Dec 2024 time-based holdout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35420-ABC0-4AC8-9440-A7E5004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C895-53D8-4A81-915E-C9D90E6C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ACB9C-6F89-4D54-959D-7C9A45E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7CF5"/>
                </a:solidFill>
              </a:defRPr>
            </a:pPr>
            <a:r>
              <a:rPr sz="975" b="1">
                <a:solidFill>
                  <a:srgbClr val="987CF5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0234E-33E3-4DD1-ACEB-C6E7F1C8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Calibrate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44329-D1CC-43B6-A6A5-B8B9B532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Probability quality and F1 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5C55B-6644-4120-971E-184795C8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57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A586E1-9353-477A-BD4B-C364B854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8C0A1-31B7-4795-87D4-3E827FC9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623"/>
                </a:solidFill>
              </a:defRPr>
            </a:pPr>
            <a:r>
              <a:rPr sz="975" b="1">
                <a:solidFill>
                  <a:srgbClr val="F5A623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855AE-76D4-4A0E-96DB-74F1A89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8D7D7-FAF2-44CB-801E-B35C9FAC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31 Dec 2025 customer portfolio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3ADB2-D547-437E-B630-8704246F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2628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55E87-5AC3-4D48-89C1-7454F834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B8908F-C2C1-4D1D-8F2D-9BE189C2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FEATURES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499CBB-68C9-4FBE-B6BF-3CEC65C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3093F-51D6-4A8F-92CC-81D63F17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Behavior, value and engagement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A0FA62-AF6E-4165-93F6-5F6B026F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71875"/>
            <a:ext cx="2628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99FEF4-0C55-4299-8CDA-B0C033C0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71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C7E8"/>
          </a:solidFill>
          <a:ln xmlns:a="http://schemas.openxmlformats.org/drawingml/2006/main" w="0">
            <a:solidFill>
              <a:srgbClr val="2AC7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03532A-984A-4ADD-8CA4-E0F3C95D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PREDICTION HORIZON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75A186-6D30-4BCA-B06D-47BE711E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C7E8"/>
                </a:solidFill>
              </a:defRPr>
            </a:pPr>
            <a:r>
              <a:rPr sz="1875" b="1">
                <a:solidFill>
                  <a:srgbClr val="2AC7E8"/>
                </a:solidFill>
              </a:rPr>
              <a:t>90 days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2CF38B-A399-4D6A-B795-45118664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29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Forward-looking churn label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AA1744-8AA6-4647-BE45-09EB6F8A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628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21BB43-8796-44F1-AA89-EA35D840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D361C5-FEF9-413B-8828-1C9E0879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DECISION THRESHOLD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4F8695-D07C-4147-B09E-6DAF972B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0.33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2A5284-5F72-4BA2-A1BC-F862A3D5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Selected on training data before holdout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2C61D9-BAA8-4C0A-BEEA-38BA1A91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71875"/>
            <a:ext cx="2819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740034-480F-49A8-A7A2-E8319FE7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71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C1279D-DA92-4A9F-B3FB-243D2E47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CALIBRATION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90F7C9-160B-40EE-8DE4-8F790D1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Brier 0.145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515E40-9513-46DE-8524-9614DB71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29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Probability reliability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083BEC-3A5A-4E8D-A835-ADF05813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683D8B-5504-4856-A88C-19D49B6C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571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6F792C-D17B-41A1-B62C-E4BA5745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91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Leakage control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9811C2-1999-463B-AB42-4724E83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Every feature uses information available by the snapshot date. Threshold selection and model comparison are completed before the production snapshot.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F412ED-D89C-4409-8F01-9B74212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523201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557290-629E-4950-A19B-DFBCC50F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159F5-8AAC-4BCA-8312-A1AF669E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Risk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BFA54-9996-490C-A26B-F5AA1F84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Risk tiers focus retention effort where revenue exposure is greatest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28360-2559-4827-B20B-D39752D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CAF78-8588-4137-8A8B-B86A7A7B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2BCEC-92DF-4739-9C45-834EA243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10a649b284392"/>
          <a:stretch xmlns:a="http://schemas.openxmlformats.org/drawingml/2006/main"/>
        </p:blipFill>
        <p:spPr>
          <a:xfrm xmlns:a="http://schemas.openxmlformats.org/drawingml/2006/main">
            <a:off x="457200" y="1565672"/>
            <a:ext cx="7810500" cy="4393406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24083-3061-4E96-AE87-F8E4982B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AE65F-C08B-4CDD-9A7D-CEA0C84A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553BE-4E18-4392-8F77-D37B897F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430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HIGH / CRITICAL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EE0E9-5C43-49CC-BAC2-64E497E2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556D"/>
                </a:solidFill>
              </a:defRPr>
            </a:pPr>
            <a:r>
              <a:rPr sz="1875" b="1">
                <a:solidFill>
                  <a:srgbClr val="F2556D"/>
                </a:solidFill>
              </a:rPr>
              <a:t>2,682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FBB67-8256-437C-8312-5FBAE2AA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Customers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8B715-91B5-4E90-A5F8-D758E93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AD728-473E-4194-B0A4-33567068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2315D-497C-4F6A-8F11-594DCA7A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REVENUE AT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9A050-7A60-4AAD-B6DB-7C4A5E47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TRY 6.0M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FADFC-E413-49BE-8413-F3589A4C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99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Last-12-month revenue exposure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9092F-7B8D-40A4-8B76-72BEBA6F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32194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CE7A1-3533-4DE4-A6CA-7C70DB1A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CD69C-5AFF-43E2-89D6-B72BF27B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767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Priority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347D0-26E9-4149-AB89-6CDF2269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91050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Critical risk does not automatically justify high spend. CLV, margin, consent and expected response are evaluated together; low-economic-value records may be suppressed.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223ED-E981-4E89-8934-E6F3318D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7428735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926201-E629-458F-BCCB-2BAF70B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A6717-3E6C-49FB-90AB-1B8E1869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Model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25362-66F0-4135-9474-A5929017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Champion selection balances discrimination, calibration and business lift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7FCB8-723D-44A8-890E-5EC303D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A5FE1-374E-4476-B92A-D1010894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A576F-8078-47FB-B86D-1A2B2A1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47712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7367dd2f54796"/>
          <a:stretch xmlns:a="http://schemas.openxmlformats.org/drawingml/2006/main"/>
        </p:blipFill>
        <p:spPr>
          <a:xfrm xmlns:a="http://schemas.openxmlformats.org/drawingml/2006/main">
            <a:off x="457200" y="1659434"/>
            <a:ext cx="7477125" cy="4205883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7D213-8B52-43DC-86E4-1442FD8C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381125"/>
            <a:ext cx="1676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98291-D0D6-4DAA-B4CD-DF43BB4F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81FCB-0C0B-41B4-A4EC-61004565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5430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ROC-AUC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2CD15-FF7D-4070-ABBE-DEB9AB86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790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0.867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F7112-7187-4682-99A8-5C4612AA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383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Discrimination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F53BD-E66B-4023-BF05-33445A5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381125"/>
            <a:ext cx="1676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60941-A551-4A8F-9F63-B46C8B07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E7D46-03E9-4291-B125-8476ABB9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430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PR-AUC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CDFDC-D7A2-4B6C-ADE0-7D2A101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90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0.908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4F170-BDF2-4001-91F0-9DD22A6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383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Imbalanced class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ED21C-B8B9-4DFC-8231-4B87319B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1676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94BAB-0A8C-47E8-AC45-E01789FF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D7DB8-5D0D-4EFC-8BAE-B4701512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384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TOP-10% LIFT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CB0D6-30AD-4C9F-A187-3773AE3A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86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1.77x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0360F-2904-4CB3-8CEC-F4A2D24C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5337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Targeting power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A473C-A37E-497D-9738-E35E92E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1676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2C3B3-7E69-4C76-8E4A-D5BE1F8A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1882B-9DB0-454A-A666-28FFF8A8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384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1CD0C-32F0-49F9-B36F-1FC30EC5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86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0.792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F41C8-E64F-4C3D-931D-ACAA4DA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337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Balance metric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7C6109-DB3E-4C8B-8B4C-64A48C6D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71925"/>
            <a:ext cx="3552825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52503-2B0E-4167-8EED-18EEF92C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71925"/>
            <a:ext cx="571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EF7F5C-1A43-4C49-AFC0-9BB60486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24325"/>
            <a:ext cx="3190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Champion selection approach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1AA959-41B1-4CCD-A20E-2070D0A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38650"/>
            <a:ext cx="3190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Calibrated Random Forest produced the strongest combined result. Selection was not based on ROC-AUC alone: PR-AUC, Brier, F1, lift and the operating threshold were considered together.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B45B1E-9D87-4DB8-BC0E-C9A8F598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141314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7C771-012B-4542-8122-548FE56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C59B1-BBA9-4EEA-8AF3-51CD4F73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SHAP Explainability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788DB-F1A6-450F-9BBB-986B8EA2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Global and local drivers make risk scores operationally interpretable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688A4-88C2-4195-9E44-CA96D68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EA2E2-4BAC-4F7D-BD24-F867C8E7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AA12C-4A83-444B-BCED-22B68AF0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66762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9cd6139e849dc"/>
          <a:stretch xmlns:a="http://schemas.openxmlformats.org/drawingml/2006/main"/>
        </p:blipFill>
        <p:spPr>
          <a:xfrm xmlns:a="http://schemas.openxmlformats.org/drawingml/2006/main">
            <a:off x="457200" y="1605855"/>
            <a:ext cx="7667625" cy="4313039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3EDF4-C340-4EB8-94E9-8DE08E9B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381125"/>
            <a:ext cx="33623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548D0-0F78-4FEE-8F08-3F14CCEE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0D530-C7FF-4439-8EC0-6C5F9E88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543050"/>
            <a:ext cx="3019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SESSIONS 90D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AB1E3-2F9B-44CF-A6F3-915202F0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9070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556D"/>
                </a:solidFill>
              </a:defRPr>
            </a:pPr>
            <a:r>
              <a:rPr sz="1875" b="1">
                <a:solidFill>
                  <a:srgbClr val="F2556D"/>
                </a:solidFill>
              </a:rPr>
              <a:t>53.8%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72C93-664C-4584-90B8-990DAEF0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38375"/>
            <a:ext cx="3019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Global importance share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585C8-B1DB-4BEB-8EB6-6FE4FD0E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76525"/>
            <a:ext cx="33623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270A1-D87E-4558-ACB6-B7D7FD24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765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7F7E7-737A-4B4D-B723-C676AFD1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38450"/>
            <a:ext cx="3019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RECENCY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A3580-1D0B-4813-984C-1E3247F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8610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18.4%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48649-A25F-46B9-8EDB-D2C8CC6C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3019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Global importance 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75765-C907-4176-A7D6-1B6FB56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71925"/>
            <a:ext cx="33623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BF819-A249-471E-AB4F-46FE949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719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1E2DD-E170-4B7F-A657-368FD589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33850"/>
            <a:ext cx="3019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DAYS SINCE LAST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68261-3352-4153-8E14-840F9A60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8150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8.6%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B8476-057C-4B7C-9320-C02335E4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29175"/>
            <a:ext cx="3019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Global importance share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C1C23-49DD-41FA-AA86-B64D250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67325"/>
            <a:ext cx="33623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0187B-95B1-4ED6-98CC-3EE2E4C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6732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A5977-C266-4056-B518-B48D85E6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419725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Usage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AC7BE-7D79-4109-B1EC-E44F811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7340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SHAP explains model association, not causality. Human review and campaign controls remain above the score.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83BD1B-0723-4EF3-A79E-A532CE20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569649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79E19-931B-4AB8-BBD5-2CC08047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17ED9-FE5B-4DB9-84E3-DD8F944E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Fairness, Drift &amp;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570FB-C8E5-40AD-9916-BD9D7DD1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Responsible use requires controls after model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27C30-3BC0-4F1B-AB0E-47A382CE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B315E-AA0A-4944-A6FE-F45A336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A29FF-D9F1-4403-9F0F-EC759E8F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solidFill>
              <a:srgbClr val="0714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F6F26-BA45-483F-B52D-0D74A7A4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Region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75271-A64E-43F4-9B20-1185F6D0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5257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80281-0D67-48CE-814B-947F386A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525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Observed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A52E5-E1C0-4884-8C16-534670E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525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Avg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154AF-B1DC-468C-9D24-189F90AB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525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F633D-25FB-4239-BD7C-BA04F527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EC275-70B1-4D0F-AAA1-A4127B0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1452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Aegean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5C66F-AC9A-4B4E-AC0B-B75A5D53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1452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621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EC459-DBD0-403D-A475-C5B0E1C2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145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57.6%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B035E-6D0C-4872-AEE4-CA1F25F3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145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52.0%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A1F6A-230C-426A-B77C-6AC199F7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145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2B0E9-7245-449D-8136-E6AA632A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3C450-EB10-47C8-8BF3-3C62F635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Black Sea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1F2E0-6DE3-4D09-99EB-561A3D2F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367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A9B68-3BDC-4664-9DC8-0E8F5202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54.8%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2912F-3ACB-48DB-9AFA-62FA0C4E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50.1%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F7655-E8E2-4C7E-927A-EF6E691A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860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0.885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0FC59-85B1-434A-B451-F0F5C483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3B177-4CA9-482D-880D-055E05DD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5747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Central Anatolia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56907C-A093-455D-B3D0-86A27CEC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5747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671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6F2F8-E28F-4733-8E6D-4B805D38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574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57.8%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FD3BA-7691-44A5-94C6-F1F651C1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574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51.4%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95D8B5-AEDC-47FD-BC23-13E43554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574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0.873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FCFF7A-6074-4F3F-9789-EE8E9B08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A927EC-18EC-4D7B-A0D0-9261DD99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Eastern Anatolia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18D47-6224-457F-8927-E6AEA4BB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28950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159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CF6704-324E-4935-9980-8DF4B36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28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58.5%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63F15A-FB1B-419F-920B-559B9AFE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48.1%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751BA9-DBDF-422E-BC67-0578DBA7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0.869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2F6F10-0FAE-4BC7-B62E-194C4F92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90C100-EF71-4884-A971-CA9C02E1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Marmara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226D2-EFE6-42A8-8E3E-3D7DDE76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042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1,549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97820D-89A5-4233-ADEA-204523A4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04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54.2%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88145D-115F-4BFA-A0BB-340A472E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50.5%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34B4F8-6BBE-456E-AB02-C97A4BF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04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0.865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2F9ABB-A9E2-4AD9-89FE-07BCD7C0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09806E-1F37-443F-ADE6-0EA9C05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Mediterranean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F360A5-C069-436B-8DA0-AE6FDA84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71900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486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A3684C-FD63-40A2-9238-5973F9A6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719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56.0%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DFF7D9-3790-4427-8551-549CE684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50.7%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050A77-DE78-4419-8884-0BC8D2A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719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0.871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316F41-511E-49A6-87D6-D655656F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1857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8B6227-50FA-4535-99CF-2DDBAA54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AEF6AA-748B-4B7A-893A-99DF58A3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38300"/>
            <a:ext cx="1514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DRIFT WATCH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477027-A5BB-4A55-8AC7-EE94CEA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tenure days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2A2724-1F9C-4C5D-B402-9BCE5573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151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PSI 0.245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ADCD3D-BE39-4BD6-9D8B-6F4FA6A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76375"/>
            <a:ext cx="19716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D20393-37E2-4258-97E0-CE4BC03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763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867662-1D80-47BC-98DA-B0F740E5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38300"/>
            <a:ext cx="1628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QUALITY GATES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8CD366-6F47-48CA-8D54-35C899CE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85950"/>
            <a:ext cx="162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10/10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EEC3C1-586F-449A-B045-147C1538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All PASS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AE8631-17C2-42B7-ACCE-A32DD8A2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4019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EE2888-A486-4CBA-9648-CB28FF81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2F2CDE-3C2E-48C6-A443-794D9FAB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Fairness control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F41581-4486-4FC5-83FC-03BED3DE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3657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Customer count, observed churn, average risk, ROC-AUC and true-positive rate are monitored by region and age band.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F2E136-DADE-4467-9BD4-0F39153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40195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FDE44C-CFDC-49C4-AA41-2EE39994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83443C-2928-4C2C-A5D0-58BFD502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48225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Production rule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CA16CD-6C6B-435D-982F-FBDAB159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657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Monthly performance and data quality; quarterly drift/fairness review; retrain or withdraw when thresholds are exceeded.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FBA2A2-0EC5-44EF-842D-5E6D5BB0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38524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31E4EE-056A-495B-A515-2E0B83F1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EAD0A-2A69-4479-A11D-99FC78CB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Campaign Targeting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67B3B-2F11-4E86-BFB8-78F0DA1C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Next-best-action rules convert predictions into controlled interventions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24E4B-3BEC-4638-BF7D-598BB208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E9D6-58F7-4E51-8B72-68171E6D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71DF0-E540-4A66-AEC6-165A2D6D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9f8af9fa548ed"/>
          <a:stretch xmlns:a="http://schemas.openxmlformats.org/drawingml/2006/main"/>
        </p:blipFill>
        <p:spPr>
          <a:xfrm xmlns:a="http://schemas.openxmlformats.org/drawingml/2006/main">
            <a:off x="457200" y="1565672"/>
            <a:ext cx="7810500" cy="4393406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E96D4-7CAE-4A3B-9295-DB62D070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E1B2B-E4E9-4A16-B839-EB077DD2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53A97-3545-4B48-A01E-3F3975A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430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PRIORITIZED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C23FF-9FFD-46A2-A5F4-9481275C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3,501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ECFAC-B3B9-4FAC-B075-CABA364C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Customer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78B7C-A243-4026-8012-3B61917B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4E3C6-7440-4C3E-B559-26B33382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80500-E4D5-4B61-9BA6-EFCBA7C4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ALLOCATED 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BBE13-6DB8-4EC1-9DC4-D48B7ADE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TRY 236K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0ECD4-20E6-48AF-A026-25BEE92C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99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Within model budget cap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2FA14-86CB-4E6A-B5C5-0FE5434D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91311-A408-447C-9A8F-CB47781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6D885-341F-4291-97B5-E276FB05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EXPECTED MARGIN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90135-B2B5-4DF0-9DBF-4C56C01D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339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TRY 547K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25FEE-3A92-4CD1-9980-0FC72827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815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Incremental campaign contribution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246CA-8FAA-42C6-BD71-9E5F27B1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95925"/>
            <a:ext cx="32194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11846-8827-48A7-94B8-A40201D0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9592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75F19-7D48-4879-A210-45CBBCD9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483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Control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E0DAE-443C-4417-A0A4-0E146005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62650"/>
            <a:ext cx="2857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Customers without marketing consent are suppressed.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FF351-C88C-4C9C-9996-9D85A88B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116733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A0B41-8C43-48C1-99CC-0394E27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5D2F4-D47D-4D2C-BE3B-F4895B4D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Campaign Economics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C60FB-3C2A-4D47-AC9E-094324CE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Budget is allocated by expected incremental margin and ROI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21603-6F27-4529-8C35-AA4EE99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D4784-0E0E-4F44-A42C-F0403689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17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5810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e8fb9086ad465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0BF19-8DA0-4E3A-99A5-1722963C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5162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CAFAA-644D-42CF-B602-C71332CC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0947A-1F9B-4DB4-9C62-02A0E0E4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Invest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AD826-6F97-4A32-9AB2-3C434360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90725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ROI ≥ 1.0x and positive incremental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83E57-2AE4-4558-B8D8-8FA981F6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5162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68521-C521-4375-A688-AA532AEB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65E1D-8FB8-400B-9FB3-B588DA9C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57997-1CF4-435A-B574-87ADCF5F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43275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ROI 0.25x–1.0x; controlled experiment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48AB7-BD3D-4C6E-B47E-DF5EFB40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5162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49486-8CF1-46AB-B1B3-E2A1D5D0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A67F6-5367-4211-99AE-1D3C278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A82EE-5EB3-49C6-9001-9931E602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Negative economics or weak eligibility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6F1E9-CCB9-4ED4-893B-9405BCF9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51625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99901-CC9F-4ACA-AE96-392936D2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57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6499F-F986-467D-9622-DBB035B5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7215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Portfolio principle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E8C17-21BB-4C7B-BD6A-6C64D0C3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86475"/>
            <a:ext cx="4800600" cy="-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The model selects; the budget constrains; experimentation validates.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4244E-A7F2-405C-ABF6-3F6B1B78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9265235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C3F362-DFF4-48B4-9F46-FF6FDD09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ADC72-A8BB-44AD-B3E8-93CBD680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Multi-Platform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D79B5-3F14-44C3-880C-452EF95A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Power BI, Excel, Tableau, SQL, API and documentation work as one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ECD20-9767-4308-AE93-53450BAA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E1C30-9C37-4475-A496-066F4A02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47814-30AD-4636-A706-C8708D12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790BA-7528-4621-8FCB-629A3587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FF"/>
                </a:solidFill>
              </a:defRPr>
            </a:pPr>
            <a:r>
              <a:rPr sz="1650" b="1">
                <a:solidFill>
                  <a:srgbClr val="2E8BFF"/>
                </a:solidFill>
              </a:rPr>
              <a:t>Power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F3197-74E2-4F7E-9EEB-68238BF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12-page PBIP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DAX + semantic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31B6A-B2A2-471D-A75D-7FE352B5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2875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16A0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0C823-8E5C-4EAD-B33E-A7503A27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57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079"/>
                </a:solidFill>
              </a:defRPr>
            </a:pPr>
            <a:r>
              <a:rPr sz="1650" b="1">
                <a:solidFill>
                  <a:srgbClr val="16A079"/>
                </a:solidFill>
              </a:rPr>
              <a:t>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E6179-541A-4C12-8ADE-B94379B3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717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24-sheet decision model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Scenario and QA formulas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C8F3E-5289-4D8B-A444-5191D87E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9F9FC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FDA58-7F5E-44F3-A96A-43B9B443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C7E8"/>
                </a:solidFill>
              </a:defRPr>
            </a:pPr>
            <a:r>
              <a:rPr sz="1650" b="1">
                <a:solidFill>
                  <a:srgbClr val="2AC7E8"/>
                </a:solidFill>
              </a:rPr>
              <a:t>Tableau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FAF11-6F45-4118-966F-E6400739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3 dashboards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8 analytical worksheets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BBF31-130B-4E73-A076-E3ABA52B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8FC1A-8286-45D1-98CB-D56BBF45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87CF5"/>
                </a:solidFill>
              </a:defRPr>
            </a:pPr>
            <a:r>
              <a:rPr sz="1650" b="1">
                <a:solidFill>
                  <a:srgbClr val="987CF5"/>
                </a:solidFill>
              </a:rPr>
              <a:t>Python &amp; 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ADDE8-F212-4487-AE52-7043EA56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Reproducible pipeline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SQLite analytical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BFA5A-F1F0-4663-893B-D4BE80B6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6710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3BD1F-6107-444A-99EA-09A1E637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95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A623"/>
                </a:solidFill>
              </a:defRPr>
            </a:pPr>
            <a:r>
              <a:rPr sz="1650" b="1">
                <a:solidFill>
                  <a:srgbClr val="F5A623"/>
                </a:solidFill>
              </a:rPr>
              <a:t>API &amp;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94EEA-1D3E-4798-AACB-D87C1A2F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10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FastAPI scoring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Streamlit exploration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5E800-5DDA-4E55-BF8A-44168F4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1A2DE-F861-4C85-AB59-0DF00AC3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56D"/>
                </a:solidFill>
              </a:defRPr>
            </a:pPr>
            <a:r>
              <a:rPr sz="1650" b="1">
                <a:solidFill>
                  <a:srgbClr val="F2556D"/>
                </a:solidFill>
              </a:rPr>
              <a:t>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A5CFF-BAA9-41F8-A7AC-E59537E0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Tests and model cards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Drift, fairness and 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99FF7-21E3-4730-8948-FE64BACA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087100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4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E42F34-E465-4101-8FDB-4FC3D21E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57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solidFill>
              <a:srgbClr val="07142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7A07F-F383-419D-8C1C-FDA29D80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72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423"/>
                </a:solidFill>
              </a:defRPr>
            </a:pPr>
            <a:r>
              <a:rPr sz="1125" b="1">
                <a:solidFill>
                  <a:srgbClr val="071423"/>
                </a:solidFill>
              </a:rPr>
              <a:t>Single-source principle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FA5EE-A38C-407B-B700-C3799B1A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725150" cy="-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Every channel uses the same business definitions, customer key and validated output tables.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F1A27-EA6F-426E-BE18-D71DD489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1401399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CBCCF-5723-4262-957A-89C2FB37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6C974-87F2-4036-B198-27D33822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90-Day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51034-0687-47E4-85B9-7FADA41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A pragmatic path from portfolio prototype to an operating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EBFBE-879B-4F2F-ACAB-03D65EEB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8852A-07DE-427C-AE02-6EC7649F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19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809625" y="3190875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DFE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132CA-6D81-4A5F-AB91-3A475D6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05281-AC4A-44FA-A65C-90024F3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FF"/>
                </a:solidFill>
              </a:defRPr>
            </a:pPr>
            <a:r>
              <a:rPr sz="1050" b="1">
                <a:solidFill>
                  <a:srgbClr val="2E8BFF"/>
                </a:solidFill>
              </a:rPr>
              <a:t>Days 0–30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D129D-CA5A-4A3B-87EA-F4A719B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3143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E9514-2169-493B-8BD9-DE81C4A5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3"/>
                </a:solidFill>
              </a:defRPr>
            </a:pPr>
            <a:r>
              <a:rPr sz="1500" b="1">
                <a:solidFill>
                  <a:srgbClr val="071423"/>
                </a:solidFill>
              </a:rPr>
              <a:t>Foundation &amp; 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9490C-160B-4294-AA69-7ECAFE2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Source mapping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KPI dictionary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Pilot cohort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1606E-F797-440F-87A7-A9628653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0807F-479F-46F4-96DD-D96DF56F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C6A5"/>
                </a:solidFill>
              </a:defRPr>
            </a:pPr>
            <a:r>
              <a:rPr sz="1050" b="1">
                <a:solidFill>
                  <a:srgbClr val="26C6A5"/>
                </a:solidFill>
              </a:rPr>
              <a:t>Days 31–60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B205E-EDA4-4089-85DF-623B9CE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3143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49A60-8439-451B-8406-A0600E8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3"/>
                </a:solidFill>
              </a:defRPr>
            </a:pPr>
            <a:r>
              <a:rPr sz="1500" b="1">
                <a:solidFill>
                  <a:srgbClr val="071423"/>
                </a:solidFill>
              </a:rPr>
              <a:t>Model &amp; Experiment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2F76F-B4FC-4607-A85F-C6D319B2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815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Time-based validation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A/B design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Approval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0B0D5-6341-41DE-B3E4-43C7A511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0263D-5331-4DAB-A1EE-BEF53684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7CF5"/>
                </a:solidFill>
              </a:defRPr>
            </a:pPr>
            <a:r>
              <a:rPr sz="1050" b="1">
                <a:solidFill>
                  <a:srgbClr val="987CF5"/>
                </a:solidFill>
              </a:rPr>
              <a:t>Days 61–90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95D1D-AE1F-4FC3-B20D-311F1A0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3143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777C2-515D-40E5-BED6-CA51EA20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3"/>
                </a:solidFill>
              </a:defRPr>
            </a:pPr>
            <a:r>
              <a:rPr sz="1500" b="1">
                <a:solidFill>
                  <a:srgbClr val="071423"/>
                </a:solidFill>
              </a:rPr>
              <a:t>Operate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49761-FCD1-45AB-946A-EC40865A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815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BI release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API integration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Monitoring cadence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E01EC-499C-4E1C-8AC0-25EF724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CD550-BE53-4886-9AEF-111ADA09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6A778-1D98-4B16-A7E2-4BAB1C1B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33525"/>
            <a:ext cx="1091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Success criterion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05F0A-2F2D-475D-B791-6B87542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91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Pilot success is judged by incremental margin, customer experience, operational adoption and absence of control breaches—not model metrics alone.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A74ADD-39EE-4E8A-BFE8-601EFE3C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Synthetic portfolio data • 2022–2025 • Production snapshot: 31 Dec 2025 • Currency: TRY</a:t>
            </a:r>
          </a:p>
        </p:txBody>
      </p:sp>
    </p:spTree>
    <p:extLst>
      <p:ext uri="{BB962C8B-B14F-4D97-AF65-F5344CB8AC3E}">
        <p14:creationId xmlns:p14="http://schemas.microsoft.com/office/powerpoint/2010/main" val="3582211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9BD3E-F480-4A83-9D4B-341FD63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FF"/>
                </a:solidFill>
              </a:defRPr>
            </a:pPr>
            <a:r>
              <a:rPr sz="900" b="1">
                <a:solidFill>
                  <a:srgbClr val="8FD8FF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5D354-C88F-4E42-A52E-EC4F97B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Know customer value.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Anticipate risk.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Act with discipline.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242A6-14C4-4FD5-9AA4-5441F85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6F6"/>
                </a:solidFill>
              </a:defRPr>
            </a:pPr>
            <a:r>
              <a:rPr sz="1425" b="0">
                <a:solidFill>
                  <a:srgbClr val="D8E6F6"/>
                </a:solidFill>
              </a:rPr>
              <a:t>A portfolio-ready customer intelligence platform combining statistical analysis, machine learning, business intelligence, decision science and executive communication.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2C023-1F09-4821-8072-C29F6B68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Murat Miraç Gedik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3C1C2-821E-4881-9638-B171DFF3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D8FF"/>
                </a:solidFill>
              </a:defRPr>
            </a:pPr>
            <a:r>
              <a:rPr sz="975" b="0">
                <a:solidFill>
                  <a:srgbClr val="8FD8FF"/>
                </a:solidFill>
              </a:rPr>
              <a:t>Python • SQL • Power BI • Excel • Tableau • Scikit-learn • SHAP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2F7CF-5FC2-456B-814B-29316A87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7D9"/>
                </a:solidFill>
              </a:defRPr>
            </a:pPr>
            <a:r>
              <a:rPr sz="750" b="0">
                <a:solidFill>
                  <a:srgbClr val="B7C7D9"/>
                </a:solidFill>
              </a:rPr>
              <a:t>Synthetic portfolio data • 2022–2025 • Production snapshot: 31 Dec 2025 • Currency: 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367B8-63FD-47DA-A1E4-C56BDD03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335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2A5F1-DF37-4C3C-9CD7-9CD1555A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1581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VALUE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RISK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→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241862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2026-07-27T14:47:20.6250000Z</dcterms:created>
  <dcterms:modified xsi:type="dcterms:W3CDTF">2026-07-27T14:47:20.6250000Z</dcterms:modified>
</coreProperties>
</file>