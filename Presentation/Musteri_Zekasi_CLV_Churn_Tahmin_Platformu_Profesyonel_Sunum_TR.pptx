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52164fbc0b44e3" /><Relationship Type="http://schemas.openxmlformats.org/officeDocument/2006/relationships/extended-properties" Target="/docProps/app.xml" Id="R6149849d57aa457a" /><Relationship Type="http://schemas.openxmlformats.org/officeDocument/2006/relationships/officeDocument" Target="/ppt/presentation.xml" Id="R8e1837137ceb47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b9a8efe0424ab2"/>
  </p:sldMasterIdLst>
  <p:notesMasterIdLst>
    <p:notesMasterId xmlns:r="http://schemas.openxmlformats.org/officeDocument/2006/relationships" r:id="R6d33b12b737341db"/>
  </p:notesMasterIdLst>
  <p:sldIdLst>
    <p:sldId xmlns:r="http://schemas.openxmlformats.org/officeDocument/2006/relationships" id="256" r:id="Rea2c5160bdbe4cef"/>
    <p:sldId xmlns:r="http://schemas.openxmlformats.org/officeDocument/2006/relationships" id="257" r:id="R3fafd8811869435e"/>
    <p:sldId xmlns:r="http://schemas.openxmlformats.org/officeDocument/2006/relationships" id="258" r:id="R55b288cec1c54412"/>
    <p:sldId xmlns:r="http://schemas.openxmlformats.org/officeDocument/2006/relationships" id="259" r:id="R5ec78b4fe49743d8"/>
    <p:sldId xmlns:r="http://schemas.openxmlformats.org/officeDocument/2006/relationships" id="260" r:id="Ra52b2e214b8a4bd1"/>
    <p:sldId xmlns:r="http://schemas.openxmlformats.org/officeDocument/2006/relationships" id="261" r:id="R8763da0ef94047e1"/>
    <p:sldId xmlns:r="http://schemas.openxmlformats.org/officeDocument/2006/relationships" id="262" r:id="R4a5241bcdfcc4dfa"/>
    <p:sldId xmlns:r="http://schemas.openxmlformats.org/officeDocument/2006/relationships" id="263" r:id="R6ed15d02a3b140c2"/>
    <p:sldId xmlns:r="http://schemas.openxmlformats.org/officeDocument/2006/relationships" id="264" r:id="Rab369a38bc454078"/>
    <p:sldId xmlns:r="http://schemas.openxmlformats.org/officeDocument/2006/relationships" id="265" r:id="R00ae0d02471b4cef"/>
    <p:sldId xmlns:r="http://schemas.openxmlformats.org/officeDocument/2006/relationships" id="266" r:id="Rfa69e503ee5d487f"/>
    <p:sldId xmlns:r="http://schemas.openxmlformats.org/officeDocument/2006/relationships" id="267" r:id="R56d5bb6c663c44cc"/>
    <p:sldId xmlns:r="http://schemas.openxmlformats.org/officeDocument/2006/relationships" id="268" r:id="Rd75c4f1c8a664f2d"/>
    <p:sldId xmlns:r="http://schemas.openxmlformats.org/officeDocument/2006/relationships" id="269" r:id="Ra7d7979c1c554064"/>
    <p:sldId xmlns:r="http://schemas.openxmlformats.org/officeDocument/2006/relationships" id="270" r:id="R7adbbf9ece464e96"/>
    <p:sldId xmlns:r="http://schemas.openxmlformats.org/officeDocument/2006/relationships" id="271" r:id="R979e2f61ca0c40e5"/>
    <p:sldId xmlns:r="http://schemas.openxmlformats.org/officeDocument/2006/relationships" id="272" r:id="R183a266f3a1740ca"/>
    <p:sldId xmlns:r="http://schemas.openxmlformats.org/officeDocument/2006/relationships" id="273" r:id="R2d91d741ca694ed5"/>
    <p:sldId xmlns:r="http://schemas.openxmlformats.org/officeDocument/2006/relationships" id="274" r:id="Rad10584994624f0e"/>
    <p:sldId xmlns:r="http://schemas.openxmlformats.org/officeDocument/2006/relationships" id="275" r:id="Rbb5e6a3530f24ed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9d76e020aa461e" /><Relationship Type="http://schemas.openxmlformats.org/officeDocument/2006/relationships/slideMaster" Target="/ppt/slideMasters/slideMaster1.xml" Id="R39b9a8efe0424ab2" /><Relationship Type="http://schemas.openxmlformats.org/officeDocument/2006/relationships/notesMaster" Target="/ppt/notesMasters/notesMaster1.xml" Id="R6d33b12b737341db" /><Relationship Type="http://schemas.openxmlformats.org/officeDocument/2006/relationships/presProps" Target="/ppt/presProps.xml" Id="R79e36a48e64e4d91" /><Relationship Type="http://schemas.openxmlformats.org/officeDocument/2006/relationships/tableStyles" Target="/ppt/tableStyles.xml" Id="R860bd974f3184af0" /><Relationship Type="http://schemas.openxmlformats.org/officeDocument/2006/relationships/slide" Target="/ppt/slides/slide1.xml" Id="Rea2c5160bdbe4cef" /><Relationship Type="http://schemas.openxmlformats.org/officeDocument/2006/relationships/slide" Target="/ppt/slides/slide2.xml" Id="R3fafd8811869435e" /><Relationship Type="http://schemas.openxmlformats.org/officeDocument/2006/relationships/slide" Target="/ppt/slides/slide3.xml" Id="R55b288cec1c54412" /><Relationship Type="http://schemas.openxmlformats.org/officeDocument/2006/relationships/slide" Target="/ppt/slides/slide4.xml" Id="R5ec78b4fe49743d8" /><Relationship Type="http://schemas.openxmlformats.org/officeDocument/2006/relationships/slide" Target="/ppt/slides/slide5.xml" Id="Ra52b2e214b8a4bd1" /><Relationship Type="http://schemas.openxmlformats.org/officeDocument/2006/relationships/slide" Target="/ppt/slides/slide6.xml" Id="R8763da0ef94047e1" /><Relationship Type="http://schemas.openxmlformats.org/officeDocument/2006/relationships/slide" Target="/ppt/slides/slide7.xml" Id="R4a5241bcdfcc4dfa" /><Relationship Type="http://schemas.openxmlformats.org/officeDocument/2006/relationships/slide" Target="/ppt/slides/slide8.xml" Id="R6ed15d02a3b140c2" /><Relationship Type="http://schemas.openxmlformats.org/officeDocument/2006/relationships/slide" Target="/ppt/slides/slide9.xml" Id="Rab369a38bc454078" /><Relationship Type="http://schemas.openxmlformats.org/officeDocument/2006/relationships/slide" Target="/ppt/slides/slide10.xml" Id="R00ae0d02471b4cef" /><Relationship Type="http://schemas.openxmlformats.org/officeDocument/2006/relationships/slide" Target="/ppt/slides/slide11.xml" Id="Rfa69e503ee5d487f" /><Relationship Type="http://schemas.openxmlformats.org/officeDocument/2006/relationships/slide" Target="/ppt/slides/slide12.xml" Id="R56d5bb6c663c44cc" /><Relationship Type="http://schemas.openxmlformats.org/officeDocument/2006/relationships/slide" Target="/ppt/slides/slide13.xml" Id="Rd75c4f1c8a664f2d" /><Relationship Type="http://schemas.openxmlformats.org/officeDocument/2006/relationships/slide" Target="/ppt/slides/slide14.xml" Id="Ra7d7979c1c554064" /><Relationship Type="http://schemas.openxmlformats.org/officeDocument/2006/relationships/slide" Target="/ppt/slides/slide15.xml" Id="R7adbbf9ece464e96" /><Relationship Type="http://schemas.openxmlformats.org/officeDocument/2006/relationships/slide" Target="/ppt/slides/slide16.xml" Id="R979e2f61ca0c40e5" /><Relationship Type="http://schemas.openxmlformats.org/officeDocument/2006/relationships/slide" Target="/ppt/slides/slide17.xml" Id="R183a266f3a1740ca" /><Relationship Type="http://schemas.openxmlformats.org/officeDocument/2006/relationships/slide" Target="/ppt/slides/slide18.xml" Id="R2d91d741ca694ed5" /><Relationship Type="http://schemas.openxmlformats.org/officeDocument/2006/relationships/slide" Target="/ppt/slides/slide19.xml" Id="Rad10584994624f0e" /><Relationship Type="http://schemas.openxmlformats.org/officeDocument/2006/relationships/slide" Target="/ppt/slides/slide20.xml" Id="Rbb5e6a3530f24e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8841f530444f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c13069826f4b38" /><Relationship Type="http://schemas.openxmlformats.org/officeDocument/2006/relationships/notesMaster" Target="/ppt/notesMasters/notesMaster1.xml" Id="R3df10764a8924a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6adcb256c64f92" /><Relationship Type="http://schemas.openxmlformats.org/officeDocument/2006/relationships/notesMaster" Target="/ppt/notesMasters/notesMaster1.xml" Id="R569b8673bb7944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65a84f934a4193" /><Relationship Type="http://schemas.openxmlformats.org/officeDocument/2006/relationships/notesMaster" Target="/ppt/notesMasters/notesMaster1.xml" Id="R898942cae95647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36938bb8244677" /><Relationship Type="http://schemas.openxmlformats.org/officeDocument/2006/relationships/notesMaster" Target="/ppt/notesMasters/notesMaster1.xml" Id="R856eddfb2d3d41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81bed062c44054" /><Relationship Type="http://schemas.openxmlformats.org/officeDocument/2006/relationships/notesMaster" Target="/ppt/notesMasters/notesMaster1.xml" Id="R18baa77a56de4f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7c3d4a596b48d1" /><Relationship Type="http://schemas.openxmlformats.org/officeDocument/2006/relationships/notesMaster" Target="/ppt/notesMasters/notesMaster1.xml" Id="Ra6994c5ac3a247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a2b0106b6349b8" /><Relationship Type="http://schemas.openxmlformats.org/officeDocument/2006/relationships/notesMaster" Target="/ppt/notesMasters/notesMaster1.xml" Id="R621ba5db23f248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e07659b98a4451" /><Relationship Type="http://schemas.openxmlformats.org/officeDocument/2006/relationships/notesMaster" Target="/ppt/notesMasters/notesMaster1.xml" Id="R70fcf672d9ca41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6b1b059018455b" /><Relationship Type="http://schemas.openxmlformats.org/officeDocument/2006/relationships/notesMaster" Target="/ppt/notesMasters/notesMaster1.xml" Id="Raad1b1426ca946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64157e013c4227" /><Relationship Type="http://schemas.openxmlformats.org/officeDocument/2006/relationships/notesMaster" Target="/ppt/notesMasters/notesMaster1.xml" Id="Rad967ef5ffba44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d88cd4350547b4" /><Relationship Type="http://schemas.openxmlformats.org/officeDocument/2006/relationships/notesMaster" Target="/ppt/notesMasters/notesMaster1.xml" Id="R4fe04842e2de4a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40533c5f324a76" /><Relationship Type="http://schemas.openxmlformats.org/officeDocument/2006/relationships/notesMaster" Target="/ppt/notesMasters/notesMaster1.xml" Id="Reef4e1f184ff4b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523551dbe54e64" /><Relationship Type="http://schemas.openxmlformats.org/officeDocument/2006/relationships/notesMaster" Target="/ppt/notesMasters/notesMaster1.xml" Id="R9156ded54ebb44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5784a7315e4d5e" /><Relationship Type="http://schemas.openxmlformats.org/officeDocument/2006/relationships/notesMaster" Target="/ppt/notesMasters/notesMaster1.xml" Id="R0bf3c05e2bd345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c0091daf404939" /><Relationship Type="http://schemas.openxmlformats.org/officeDocument/2006/relationships/notesMaster" Target="/ppt/notesMasters/notesMaster1.xml" Id="R882888458d9245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ed6546f54f483c" /><Relationship Type="http://schemas.openxmlformats.org/officeDocument/2006/relationships/notesMaster" Target="/ppt/notesMasters/notesMaster1.xml" Id="R80fc1d7929b4439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9b2dd108164ef0" /><Relationship Type="http://schemas.openxmlformats.org/officeDocument/2006/relationships/notesMaster" Target="/ppt/notesMasters/notesMaster1.xml" Id="R251faea3db154be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ee094a6fc1b4e62" /><Relationship Type="http://schemas.openxmlformats.org/officeDocument/2006/relationships/notesMaster" Target="/ppt/notesMasters/notesMaster1.xml" Id="R721dda83575a465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abee987d9524172" /><Relationship Type="http://schemas.openxmlformats.org/officeDocument/2006/relationships/notesMaster" Target="/ppt/notesMasters/notesMaster1.xml" Id="R54ea0ff7324944f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9d1393f54c94666" /><Relationship Type="http://schemas.openxmlformats.org/officeDocument/2006/relationships/notesMaster" Target="/ppt/notesMasters/notesMaster1.xml" Id="R992ca98d981641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README.md</a:t>
            </a:r>
          </a:p>
          <a:p xmlns:a="http://schemas.openxmlformats.org/drawingml/2006/main">
            <a:r>
              <a:t>- Internal synthetic project source: Models/model_metadata.json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Data/Processed/executive_kpis.csv</a:t>
            </a:r>
          </a:p>
          <a:p xmlns:a="http://schemas.openxmlformats.org/drawingml/2006/main">
            <a:r>
              <a:t>- Internal synthetic project source: Images/executive-overview.png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Docs/methodology.md</a:t>
            </a:r>
          </a:p>
          <a:p xmlns:a="http://schemas.openxmlformats.org/drawingml/2006/main">
            <a:r>
              <a:t>- Internal synthetic project source: Docs/campaign_playbook.md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README.md</a:t>
            </a:r>
          </a:p>
          <a:p xmlns:a="http://schemas.openxmlformats.org/drawingml/2006/main">
            <a:r>
              <a:t>- Internal synthetic project source: PowerBI/Customer_Intelligence_PBIP.zip</a:t>
            </a:r>
          </a:p>
          <a:p xmlns:a="http://schemas.openxmlformats.org/drawingml/2006/main">
            <a:r>
              <a:t>- Internal synthetic project source: Excel/Customer_Intelligence_CLV_Churn_Campaign_Planner.xlsx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Data/Raw/dim_customers.csv</a:t>
            </a:r>
          </a:p>
          <a:p xmlns:a="http://schemas.openxmlformats.org/drawingml/2006/main">
            <a:r>
              <a:t>- Internal synthetic project source: Data/Raw/fact_orders.csv</a:t>
            </a:r>
          </a:p>
          <a:p xmlns:a="http://schemas.openxmlformats.org/drawingml/2006/main">
            <a:r>
              <a:t>- Internal synthetic project source: Models/model_metadata.json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Images/architecture.png</a:t>
            </a:r>
          </a:p>
          <a:p xmlns:a="http://schemas.openxmlformats.org/drawingml/2006/main">
            <a:r>
              <a:t>- Internal synthetic project source: Python/src/customer_intelligence/pipeline.py</a:t>
            </a:r>
          </a:p>
          <a:p xmlns:a="http://schemas.openxmlformats.org/drawingml/2006/main">
            <a:r>
              <a:t>- Internal synthetic project source: SQL/schema.sql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Data/Processed/customer_360.csv</a:t>
            </a:r>
          </a:p>
          <a:p xmlns:a="http://schemas.openxmlformats.org/drawingml/2006/main">
            <a:r>
              <a:t>- Internal synthetic project source: Images/customer-360.png</a:t>
            </a:r>
          </a:p>
          <a:p xmlns:a="http://schemas.openxmlformats.org/drawingml/2006/main">
            <a:r>
              <a:t>- Internal synthetic project source: PowerBI/Customer_Intelligence_PBIP/Customer_Intelligence_Analytics.SemanticModel/model.bim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Data/Processed/rfm_scores.csv</a:t>
            </a:r>
          </a:p>
          <a:p xmlns:a="http://schemas.openxmlformats.org/drawingml/2006/main">
            <a:r>
              <a:t>- Internal synthetic project source: Data/Processed/segment_summary.csv</a:t>
            </a:r>
          </a:p>
          <a:p xmlns:a="http://schemas.openxmlformats.org/drawingml/2006/main">
            <a:r>
              <a:t>- Internal synthetic project source: Images/rfm-segmentation.png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Data/Processed/cohort_retention_matrix.csv</a:t>
            </a:r>
          </a:p>
          <a:p xmlns:a="http://schemas.openxmlformats.org/drawingml/2006/main">
            <a:r>
              <a:t>- Internal synthetic project source: Data/Processed/cohort_retention_long.csv</a:t>
            </a:r>
          </a:p>
          <a:p xmlns:a="http://schemas.openxmlformats.org/drawingml/2006/main">
            <a:r>
              <a:t>- Internal synthetic project source: Images/cohort-retention.png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Data/Processed/clv_model_comparison.csv</a:t>
            </a:r>
          </a:p>
          <a:p xmlns:a="http://schemas.openxmlformats.org/drawingml/2006/main">
            <a:r>
              <a:t>- Internal synthetic project source: Data/Processed/clv_predictions.csv</a:t>
            </a:r>
          </a:p>
          <a:p xmlns:a="http://schemas.openxmlformats.org/drawingml/2006/main">
            <a:r>
              <a:t>- Internal synthetic project source: Images/clv-analysis.png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Python/src/customer_intelligence/features.py</a:t>
            </a:r>
          </a:p>
          <a:p xmlns:a="http://schemas.openxmlformats.org/drawingml/2006/main">
            <a:r>
              <a:t>- Internal synthetic project source: Python/src/customer_intelligence/modeling.py</a:t>
            </a:r>
          </a:p>
          <a:p xmlns:a="http://schemas.openxmlformats.org/drawingml/2006/main">
            <a:r>
              <a:t>- Internal synthetic project source: Models/model_metadata.json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Data/Processed/churn_predictions.csv</a:t>
            </a:r>
          </a:p>
          <a:p xmlns:a="http://schemas.openxmlformats.org/drawingml/2006/main">
            <a:r>
              <a:t>- Internal synthetic project source: Data/Processed/risk_bands.csv</a:t>
            </a:r>
          </a:p>
          <a:p xmlns:a="http://schemas.openxmlformats.org/drawingml/2006/main">
            <a:r>
              <a:t>- Internal synthetic project source: Images/churn-risk.png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Data/Processed/churn_model_comparison.csv</a:t>
            </a:r>
          </a:p>
          <a:p xmlns:a="http://schemas.openxmlformats.org/drawingml/2006/main">
            <a:r>
              <a:t>- Internal synthetic project source: Data/Processed/churn_calibration.csv</a:t>
            </a:r>
          </a:p>
          <a:p xmlns:a="http://schemas.openxmlformats.org/drawingml/2006/main">
            <a:r>
              <a:t>- Internal synthetic project source: Images/model-performance.png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Data/Processed/shap_global_importance.csv</a:t>
            </a:r>
          </a:p>
          <a:p xmlns:a="http://schemas.openxmlformats.org/drawingml/2006/main">
            <a:r>
              <a:t>- Internal synthetic project source: Data/Processed/shap_local_explanations.csv</a:t>
            </a:r>
          </a:p>
          <a:p xmlns:a="http://schemas.openxmlformats.org/drawingml/2006/main">
            <a:r>
              <a:t>- Internal synthetic project source: Python/src/customer_intelligence/explainability.py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Data/Processed/fairness_audit.csv</a:t>
            </a:r>
          </a:p>
          <a:p xmlns:a="http://schemas.openxmlformats.org/drawingml/2006/main">
            <a:r>
              <a:t>- Internal synthetic project source: Data/Processed/drift_monitoring.csv</a:t>
            </a:r>
          </a:p>
          <a:p xmlns:a="http://schemas.openxmlformats.org/drawingml/2006/main">
            <a:r>
              <a:t>- Internal synthetic project source: Data/Processed/data_quality_report.csv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Data/Processed/campaign_targets.csv</a:t>
            </a:r>
          </a:p>
          <a:p xmlns:a="http://schemas.openxmlformats.org/drawingml/2006/main">
            <a:r>
              <a:t>- Internal synthetic project source: Data/Processed/campaign_summary.csv</a:t>
            </a:r>
          </a:p>
          <a:p xmlns:a="http://schemas.openxmlformats.org/drawingml/2006/main">
            <a:r>
              <a:t>- Internal synthetic project source: Images/campaign-targeting.png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Data/Processed/campaign_summary.csv</a:t>
            </a:r>
          </a:p>
          <a:p xmlns:a="http://schemas.openxmlformats.org/drawingml/2006/main">
            <a:r>
              <a:t>- Internal synthetic project source: Excel/Customer_Intelligence_CLV_Churn_Campaign_Planner.xlsx</a:t>
            </a:r>
          </a:p>
          <a:p xmlns:a="http://schemas.openxmlformats.org/drawingml/2006/main">
            <a:r>
              <a:t>- Internal synthetic project source: Python/src/customer_intelligence/campaign.py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PowerBI/Customer_Intelligence_PBIP.zip</a:t>
            </a:r>
          </a:p>
          <a:p xmlns:a="http://schemas.openxmlformats.org/drawingml/2006/main">
            <a:r>
              <a:t>- Internal synthetic project source: Tableau/Customer_Intelligence_Dashboard.twb</a:t>
            </a:r>
          </a:p>
          <a:p xmlns:a="http://schemas.openxmlformats.org/drawingml/2006/main">
            <a:r>
              <a:t>- Internal synthetic project source: API/main.py</a:t>
            </a:r>
          </a:p>
          <a:p xmlns:a="http://schemas.openxmlformats.org/drawingml/2006/main">
            <a:r>
              <a:t>- Internal synthetic project source: App/streamlit_app.py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Docs/model_monitoring.md</a:t>
            </a:r>
          </a:p>
          <a:p xmlns:a="http://schemas.openxmlformats.org/drawingml/2006/main">
            <a:r>
              <a:t>- Internal synthetic project source: Docs/campaign_playbook.md</a:t>
            </a:r>
          </a:p>
          <a:p xmlns:a="http://schemas.openxmlformats.org/drawingml/2006/main">
            <a:r>
              <a:t>- Internal synthetic project source: Docs/privacy_ethics.md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75210f15ae4b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c3b1df0729471e" /><Relationship Type="http://schemas.openxmlformats.org/officeDocument/2006/relationships/slideLayout" Target="/ppt/slideLayouts/slideLayout1.xml" Id="Ra4d47d6ba44040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d47d6ba44040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a2d40bc9b4ba8" /><Relationship Type="http://schemas.openxmlformats.org/officeDocument/2006/relationships/notesSlide" Target="/ppt/notesSlides/notesSlide1.xml" Id="R54267432cfdd45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8e112d0c040ba" /><Relationship Type="http://schemas.openxmlformats.org/officeDocument/2006/relationships/image" Target="/ppt/media/image.png" Id="R812d66d3f6eb40e7" /><Relationship Type="http://schemas.openxmlformats.org/officeDocument/2006/relationships/notesSlide" Target="/ppt/notesSlides/notesSlide2.xml" Id="Rfe6604787dae4c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283324ec743e2" /><Relationship Type="http://schemas.openxmlformats.org/officeDocument/2006/relationships/notesSlide" Target="/ppt/notesSlides/notesSlide3.xml" Id="Rd2f84c7740a443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df89b08304743" /><Relationship Type="http://schemas.openxmlformats.org/officeDocument/2006/relationships/notesSlide" Target="/ppt/notesSlides/notesSlide4.xml" Id="R879f4ce63d2c48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f2c55e0734bc1" /><Relationship Type="http://schemas.openxmlformats.org/officeDocument/2006/relationships/notesSlide" Target="/ppt/notesSlides/notesSlide5.xml" Id="Rb29475279a5649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9d2d42d574dd9" /><Relationship Type="http://schemas.openxmlformats.org/officeDocument/2006/relationships/image" Target="/ppt/media/image2.png" Id="R701a1d9f1d8d4d37" /><Relationship Type="http://schemas.openxmlformats.org/officeDocument/2006/relationships/notesSlide" Target="/ppt/notesSlides/notesSlide6.xml" Id="Rfb7e435b813240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fed2ad7564039" /><Relationship Type="http://schemas.openxmlformats.org/officeDocument/2006/relationships/image" Target="/ppt/media/image3.png" Id="R8aaf9d2b63fe4fd6" /><Relationship Type="http://schemas.openxmlformats.org/officeDocument/2006/relationships/notesSlide" Target="/ppt/notesSlides/notesSlide7.xml" Id="R25209ff4c6af46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8ecd2054c40f2" /><Relationship Type="http://schemas.openxmlformats.org/officeDocument/2006/relationships/image" Target="/ppt/media/image4.png" Id="R77453027f7c74fa1" /><Relationship Type="http://schemas.openxmlformats.org/officeDocument/2006/relationships/notesSlide" Target="/ppt/notesSlides/notesSlide8.xml" Id="R0788ef62376a47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6bd8d944343fe" /><Relationship Type="http://schemas.openxmlformats.org/officeDocument/2006/relationships/image" Target="/ppt/media/image5.png" Id="R1818d38b520e427b" /><Relationship Type="http://schemas.openxmlformats.org/officeDocument/2006/relationships/notesSlide" Target="/ppt/notesSlides/notesSlide9.xml" Id="Rc30405329e314e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d1997cce6419a" /><Relationship Type="http://schemas.openxmlformats.org/officeDocument/2006/relationships/image" Target="/ppt/media/image6.png" Id="Ra179cb44424e47b0" /><Relationship Type="http://schemas.openxmlformats.org/officeDocument/2006/relationships/notesSlide" Target="/ppt/notesSlides/notesSlide10.xml" Id="R9619a699606440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9be0542384fc5" /><Relationship Type="http://schemas.openxmlformats.org/officeDocument/2006/relationships/notesSlide" Target="/ppt/notesSlides/notesSlide11.xml" Id="Ra30eba806a3547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ee8f25184413a" /><Relationship Type="http://schemas.openxmlformats.org/officeDocument/2006/relationships/image" Target="/ppt/media/image7.png" Id="R5a7a1923cbc0488d" /><Relationship Type="http://schemas.openxmlformats.org/officeDocument/2006/relationships/notesSlide" Target="/ppt/notesSlides/notesSlide12.xml" Id="Rd7e2c8bbefbd49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f9e236cfd4fda" /><Relationship Type="http://schemas.openxmlformats.org/officeDocument/2006/relationships/image" Target="/ppt/media/image8.png" Id="R58fca52e1bbf4fe1" /><Relationship Type="http://schemas.openxmlformats.org/officeDocument/2006/relationships/notesSlide" Target="/ppt/notesSlides/notesSlide13.xml" Id="R0660d8e20cc641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2fb73e62d4447" /><Relationship Type="http://schemas.openxmlformats.org/officeDocument/2006/relationships/image" Target="/ppt/media/image9.png" Id="R59c96682a6724a75" /><Relationship Type="http://schemas.openxmlformats.org/officeDocument/2006/relationships/notesSlide" Target="/ppt/notesSlides/notesSlide14.xml" Id="Reae19050d21345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c90ce6bab4418" /><Relationship Type="http://schemas.openxmlformats.org/officeDocument/2006/relationships/notesSlide" Target="/ppt/notesSlides/notesSlide15.xml" Id="Re069575b8a6a42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701a7fa0c4dca" /><Relationship Type="http://schemas.openxmlformats.org/officeDocument/2006/relationships/image" Target="/ppt/media/image10.png" Id="R6ca0399681cd4dad" /><Relationship Type="http://schemas.openxmlformats.org/officeDocument/2006/relationships/notesSlide" Target="/ppt/notesSlides/notesSlide16.xml" Id="R8f20aaa4989949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b9149ef0440a1" /><Relationship Type="http://schemas.openxmlformats.org/officeDocument/2006/relationships/chart" Target="/ppt/slides/charts/chart1.xml" Id="R0f4e9db69a4246ec" /><Relationship Type="http://schemas.openxmlformats.org/officeDocument/2006/relationships/notesSlide" Target="/ppt/notesSlides/notesSlide17.xml" Id="R188347676690466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12edb035b424f" /><Relationship Type="http://schemas.openxmlformats.org/officeDocument/2006/relationships/notesSlide" Target="/ppt/notesSlides/notesSlide18.xml" Id="Re0bac0f644bd449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222e97cd0457f" /><Relationship Type="http://schemas.openxmlformats.org/officeDocument/2006/relationships/notesSlide" Target="/ppt/notesSlides/notesSlide19.xml" Id="R6f8cebbba2464ce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e0c02e730467a" /><Relationship Type="http://schemas.openxmlformats.org/officeDocument/2006/relationships/notesSlide" Target="/ppt/notesSlides/notesSlide20.xml" Id="Rc786a3f19bf9425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Bütçe (bin TRY)</c:v>
          </c:tx>
          <c:spPr>
            <a:solidFill xmlns:a="http://schemas.openxmlformats.org/drawingml/2006/main">
              <a:srgbClr val="F5A623"/>
            </a:solidFill>
          </c:spPr>
          <c:cat>
            <c:strLit>
              <c:ptCount val="6"/>
              <c:pt idx="0">
                <c:v>VIP Deneyimi</c:v>
              </c:pt>
              <c:pt idx="1">
                <c:v>Elde Tut ve Ödüllendir</c:v>
              </c:pt>
              <c:pt idx="2">
                <c:v>Karşılama</c:v>
              </c:pt>
              <c:pt idx="3">
                <c:v>Çapraz Satış</c:v>
              </c:pt>
              <c:pt idx="4">
                <c:v>Geri Kazanım</c:v>
              </c:pt>
              <c:pt idx="5">
                <c:v>Geliştirme</c:v>
              </c:pt>
            </c:strLit>
          </c:cat>
          <c:val>
            <c:numLit>
              <c:formatCode>0</c:formatCode>
              <c:ptCount val="6"/>
              <c:pt idx="0">
                <c:v>101.175</c:v>
              </c:pt>
              <c:pt idx="1">
                <c:v>79.848</c:v>
              </c:pt>
              <c:pt idx="2">
                <c:v>22.168</c:v>
              </c:pt>
              <c:pt idx="3">
                <c:v>15.876</c:v>
              </c:pt>
              <c:pt idx="4">
                <c:v>13.908</c:v>
              </c:pt>
              <c:pt idx="5">
                <c:v>3.444</c:v>
              </c:pt>
            </c:numLit>
          </c:val>
        </c:ser>
        <c:ser>
          <c:idx val="1"/>
          <c:order val="1"/>
          <c:tx>
            <c:v>Beklenen Marj (bin TRY)</c:v>
          </c:tx>
          <c:spPr>
            <a:solidFill xmlns:a="http://schemas.openxmlformats.org/drawingml/2006/main">
              <a:srgbClr val="26C6A5"/>
            </a:solidFill>
          </c:spPr>
          <c:cat>
            <c:strLit>
              <c:ptCount val="6"/>
              <c:pt idx="0">
                <c:v>VIP Deneyimi</c:v>
              </c:pt>
              <c:pt idx="1">
                <c:v>Elde Tut ve Ödüllendir</c:v>
              </c:pt>
              <c:pt idx="2">
                <c:v>Karşılama</c:v>
              </c:pt>
              <c:pt idx="3">
                <c:v>Çapraz Satış</c:v>
              </c:pt>
              <c:pt idx="4">
                <c:v>Geri Kazanım</c:v>
              </c:pt>
              <c:pt idx="5">
                <c:v>Geliştirme</c:v>
              </c:pt>
            </c:strLit>
          </c:cat>
          <c:val>
            <c:numLit>
              <c:formatCode>0</c:formatCode>
              <c:ptCount val="6"/>
              <c:pt idx="0">
                <c:v>247.55670598768953</c:v>
              </c:pt>
              <c:pt idx="1">
                <c:v>139.7102126011773</c:v>
              </c:pt>
              <c:pt idx="2">
                <c:v>86.37518353858547</c:v>
              </c:pt>
              <c:pt idx="3">
                <c:v>32.997908864174356</c:v>
              </c:pt>
              <c:pt idx="4">
                <c:v>27.71066338774695</c:v>
              </c:pt>
              <c:pt idx="5">
                <c:v>12.40555473734828</c:v>
              </c:pt>
            </c:numLit>
          </c:val>
        </c:ser>
        <c:dLbls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778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F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778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6B918B-ADF4-4E84-8AB0-25A3232D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3200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292C2-1D1C-4A85-91E2-E8E44828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95375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C6DB7-4C66-4994-A002-D335AD2A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33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F4F5A-0783-49F6-B3AA-2BDE36AB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D8FF"/>
                </a:solidFill>
              </a:defRPr>
            </a:pPr>
            <a:r>
              <a:rPr sz="900" b="1">
                <a:solidFill>
                  <a:srgbClr val="8FD8FF"/>
                </a:solidFill>
              </a:rPr>
              <a:t>NOVARETAIL GROUP  |  MÜŞTERİ ZEKÂSI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8387C-E8DD-418A-8634-E5A3A0C5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8001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Müşteri Zekâsı,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CLV ve Churn Tahmin Platformu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455E2-A316-4A0B-9F1A-C5F6FF39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7477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6F6"/>
                </a:solidFill>
              </a:defRPr>
            </a:pPr>
            <a:r>
              <a:rPr sz="1425" b="0">
                <a:solidFill>
                  <a:srgbClr val="D8E6F6"/>
                </a:solidFill>
              </a:rPr>
              <a:t>Müşteri değeri, kayıp riski, açıklanabilirlik ve sonraki en iyi aksiyon kararlarını birleştiren üretim yaklaşımında analitik portföy projesi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C0002-F02B-4F00-B7EA-51A69C18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Murat Miraç Gedik  |  Profesyonel Portföy Projesi  |  Temmuz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4F302-A999-45A5-8D8C-9901179C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7D9"/>
                </a:solidFill>
              </a:defRPr>
            </a:pPr>
            <a:r>
              <a:rPr sz="750" b="0">
                <a:solidFill>
                  <a:srgbClr val="B7C7D9"/>
                </a:solidFill>
              </a:rPr>
              <a:t>Sentetik portföy verisi • 2022–2025 • Üretim kesiti: 31 Ara 2025 • Para birimi: 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3AF51-054F-4422-B7FB-F39CEE97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52600"/>
            <a:ext cx="2143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RFM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CLV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CHURN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SHAP</a:t>
            </a:r>
          </a:p>
        </p:txBody>
      </p:sp>
    </p:spTree>
    <p:extLst>
      <p:ext uri="{BB962C8B-B14F-4D97-AF65-F5344CB8AC3E}">
        <p14:creationId xmlns:p14="http://schemas.microsoft.com/office/powerpoint/2010/main" val="11644052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12D9B4-CBEE-423E-9930-85A24C07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MÜŞTERİ ZEKÂSI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B1D69-DC1B-419C-9015-C9361213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Yönetici Karar Özeti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BE835-6731-4A4E-9E61-631B79AD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Değer, risk, elde tutma ve kampanya ekonomisini tek görünümde birleştirme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CE1B6-040C-49E3-88FB-821B4DAF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C476C-AD03-428F-9BAF-6D5A1A1F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DBDFB-5958-43A3-BC73-723CCB56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2628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59D76-BF85-4A2F-9583-1C9395D3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B4054-D53F-4C5E-AC0F-7FD3F215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MÜŞTERILER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DF6D0-C60F-495F-9A9E-1869C070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8BFF"/>
                </a:solidFill>
              </a:defRPr>
            </a:pPr>
            <a:r>
              <a:rPr sz="1875" b="1">
                <a:solidFill>
                  <a:srgbClr val="2E8BFF"/>
                </a:solidFill>
              </a:rPr>
              <a:t>6,000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53CD9-046A-4244-BF14-5C000421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4.067 aktif müşteri / 12 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3662E-67F2-4FA6-BA77-ACC64308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09700"/>
            <a:ext cx="2628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82673-6AE6-4D61-A285-1BD97550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09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6FD32-C06C-41D4-A36A-EE671207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716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NET GELIR / 12 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66CBC-1E64-4ABC-9682-F6F702F5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C6A5"/>
                </a:solidFill>
              </a:defRPr>
            </a:pPr>
            <a:r>
              <a:rPr sz="1875" b="1">
                <a:solidFill>
                  <a:srgbClr val="26C6A5"/>
                </a:solidFill>
              </a:rPr>
              <a:t>TRY 55.6M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18089-6017-4BC7-B6ED-9232A538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%21,3 brüt marj oranı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644C0-F2C0-4271-A74B-4E2E1C7B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2628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EA976-AF19-4D5F-962A-20777987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BCBC2-EA2D-47B1-9D45-EAE3AD71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TAHMINI CLV / 12 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68A822-1D73-453C-A41F-B7ED1F65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192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87CF5"/>
                </a:solidFill>
              </a:defRPr>
            </a:pPr>
            <a:r>
              <a:rPr sz="1875" b="1">
                <a:solidFill>
                  <a:srgbClr val="987CF5"/>
                </a:solidFill>
              </a:rPr>
              <a:t>TRY 11.9M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4C382-964A-4651-B055-12808C61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İleri 12 aylık brüt marj katkısı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2783EF-67A2-4A4D-9826-DA06F762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09700"/>
            <a:ext cx="2819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102447-97B5-4531-ADA7-358DECF5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09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2F8C82-235E-4D21-B829-AEB037C2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716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KAMPANYA POTANSIYELI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E63388-04D7-4D3F-9314-D412E694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192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A623"/>
                </a:solidFill>
              </a:defRPr>
            </a:pPr>
            <a:r>
              <a:rPr sz="1875" b="1">
                <a:solidFill>
                  <a:srgbClr val="F5A623"/>
                </a:solidFill>
              </a:rPr>
              <a:t>TRY 547K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4BD61B-7978-4295-9BE7-32585E96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66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236 bin TRY tahsis edilen bütçe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9CEF0A-3DC8-42F7-BA19-74FC7C4F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67437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d66d3f6eb40e7"/>
          <a:stretch xmlns:a="http://schemas.openxmlformats.org/drawingml/2006/main"/>
        </p:blipFill>
        <p:spPr>
          <a:xfrm xmlns:a="http://schemas.openxmlformats.org/drawingml/2006/main">
            <a:off x="831850" y="2781300"/>
            <a:ext cx="5994400" cy="3371850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871267-8C4F-4C2D-9EF6-33A7D20D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81300"/>
            <a:ext cx="4286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F255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8692E4-FE48-4550-A51C-12C48F2A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813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56D"/>
          </a:solidFill>
          <a:ln xmlns:a="http://schemas.openxmlformats.org/drawingml/2006/main" w="0">
            <a:solidFill>
              <a:srgbClr val="F255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00CF6A-F4B5-4944-9A15-41C5F92B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33700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556D"/>
                </a:solidFill>
              </a:defRPr>
            </a:pPr>
            <a:r>
              <a:rPr sz="1125" b="1">
                <a:solidFill>
                  <a:srgbClr val="F2556D"/>
                </a:solidFill>
              </a:rPr>
              <a:t>Yönetim mesajı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A219A4-7913-44D3-BE90-DA8223C9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48025"/>
            <a:ext cx="3924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Portföyün 2,682 müşterisi yüksek veya kritik riskte ve TRY 6.0M gelir maruziyeti taşıyor. Risk tek başına yeterli değil; değer ve müdahale ekonomisiyle birlikte okunmalı.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E9E961-EB00-44FA-8AC3-24EAC346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52950"/>
            <a:ext cx="4286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26C6A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6F556C-553B-421B-BFE2-D585E9FB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5295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D59182-1161-4BDB-9D89-7B4B794F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05350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C6A5"/>
                </a:solidFill>
              </a:defRPr>
            </a:pPr>
            <a:r>
              <a:rPr sz="1125" b="1">
                <a:solidFill>
                  <a:srgbClr val="26C6A5"/>
                </a:solidFill>
              </a:rPr>
              <a:t>Karar önceliği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3A7755-546A-4E84-AD95-62FED3F0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19675"/>
            <a:ext cx="3924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3,501 müşteri için aksiyon önceliği oluşturuldu. Şampiyon churn modeli 0.867 ROC-AUC ve ilk %10'da 1.77x lift üretiyor.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D96560-E83A-49D0-B48B-3AD2243B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Sentetik portföy verisi • 2022–2025 • Üretim kesiti: 31 Ara 2025 • Para birimi: TRY</a:t>
            </a:r>
          </a:p>
        </p:txBody>
      </p:sp>
    </p:spTree>
    <p:extLst>
      <p:ext uri="{BB962C8B-B14F-4D97-AF65-F5344CB8AC3E}">
        <p14:creationId xmlns:p14="http://schemas.microsoft.com/office/powerpoint/2010/main" val="210992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E0D78A-9597-436F-820E-B974D4B8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MÜŞTERİ ZEKÂSI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4657A-1934-49EE-82F2-5DCA508C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İş Problemi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3C192-2B00-46C6-AE19-E4EE6E8F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Parçalı müşteri sinyallerini önceliklendirilmiş ticari aksiyona dönüştürme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5F9DC-B248-4FF7-B64F-1A635D21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6C29D-4767-4F02-A3E0-0144C901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CC38B-A1F8-4BE2-A5BA-D42AC4A7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29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E8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ED12F-18AB-4B09-A8D3-91D54944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F42CD-1690-4CB6-956A-4BA1A028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506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FF"/>
                </a:solidFill>
              </a:defRPr>
            </a:pPr>
            <a:r>
              <a:rPr sz="1125" b="1">
                <a:solidFill>
                  <a:srgbClr val="2E8BFF"/>
                </a:solidFill>
              </a:rPr>
              <a:t>Parçalı müşteri görünümü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08092-CD66-4B0F-B3D9-FF8979AF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95475"/>
            <a:ext cx="5067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Satın alma, dijital etkileşim, destek ve kampanya sinyalleri ayrı kaldığında müşteri değeri eksik okunur.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5E6ED-3DC6-43D9-A5DC-70E755F4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5429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9F9FC"/>
          </a:solidFill>
          <a:ln xmlns:a="http://schemas.openxmlformats.org/drawingml/2006/main" w="9525">
            <a:solidFill>
              <a:srgbClr val="2AC7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0770F-3EC2-4745-B751-F4F05EE0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C7E8"/>
          </a:solidFill>
          <a:ln xmlns:a="http://schemas.openxmlformats.org/drawingml/2006/main" w="0">
            <a:solidFill>
              <a:srgbClr val="2AC7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5A2E7-F1B3-4282-8E54-3DBDD812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81150"/>
            <a:ext cx="506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AC7E8"/>
                </a:solidFill>
              </a:defRPr>
            </a:pPr>
            <a:r>
              <a:rPr sz="1125" b="1">
                <a:solidFill>
                  <a:srgbClr val="2AC7E8"/>
                </a:solidFill>
              </a:rPr>
              <a:t>Reaktif churn yönetimi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C0571-0D3D-4B1D-BBE1-41ACC15F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95475"/>
            <a:ext cx="5067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Müşteriyi kaybettikten sonra aksiyon almak, elde tutma bütçesini verimsizleştirir.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FAB2C-D660-4C67-ADFF-8E32851D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5429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C56FF-624A-4E78-8C2F-41454A6A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9E8EC-1C21-4CF9-9DF0-349DA784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33775"/>
            <a:ext cx="506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A623"/>
                </a:solidFill>
              </a:defRPr>
            </a:pPr>
            <a:r>
              <a:rPr sz="1125" b="1">
                <a:solidFill>
                  <a:srgbClr val="F5A623"/>
                </a:solidFill>
              </a:rPr>
              <a:t>Değerden bağımsız hedefleme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247BBD-8380-4602-A91B-332418F6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5067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Yalnızca risk skoru kullanmak düşük değerli müşterilere aşırı yatırım yapılmasına yol açabilir.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A2EB9-C091-4130-96B4-FCFB8817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81375"/>
            <a:ext cx="5429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F255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8F2AD-ECDD-474A-A779-4C5EFDBB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81375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56D"/>
          </a:solidFill>
          <a:ln xmlns:a="http://schemas.openxmlformats.org/drawingml/2006/main" w="0">
            <a:solidFill>
              <a:srgbClr val="F255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CD196D-6989-46D3-874B-50CE96CD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33775"/>
            <a:ext cx="506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556D"/>
                </a:solidFill>
              </a:defRPr>
            </a:pPr>
            <a:r>
              <a:rPr sz="1125" b="1">
                <a:solidFill>
                  <a:srgbClr val="F2556D"/>
                </a:solidFill>
              </a:rPr>
              <a:t>Açıklanabilirlik ve kontrol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A695B2-7D9E-471C-A7D5-0D2653E5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5067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Model çıktısı, nedenleri ve kullanım sınırları görünür değilse iş birimleri güvenemez.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4D8DAC-7AE9-47BC-B4E6-2152C3A0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11087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42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F308D8-B02C-414C-972C-E6AD58B6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solidFill>
              <a:srgbClr val="07142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6FB186-A4C2-4178-8013-402A3C4B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29275"/>
            <a:ext cx="1072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423"/>
                </a:solidFill>
              </a:defRPr>
            </a:pPr>
            <a:r>
              <a:rPr sz="1125" b="1">
                <a:solidFill>
                  <a:srgbClr val="071423"/>
                </a:solidFill>
              </a:rPr>
              <a:t>Temel karar sorusu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02EF36-7EB7-4F4B-AC7A-AC48CD77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10725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Hangi müşteriye, ne zaman, hangi teklifle ve hangi bütçeyle müdahale etmeliyiz?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809FC2-CB03-4AE9-9619-F87B714B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Sentetik portföy verisi • 2022–2025 • Üretim kesiti: 31 Ara 2025 • Para birimi: TRY</a:t>
            </a:r>
          </a:p>
        </p:txBody>
      </p:sp>
    </p:spTree>
    <p:extLst>
      <p:ext uri="{BB962C8B-B14F-4D97-AF65-F5344CB8AC3E}">
        <p14:creationId xmlns:p14="http://schemas.microsoft.com/office/powerpoint/2010/main" val="8102622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7B034E-4668-4A99-B9A8-ADFF3A4D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MÜŞTERİ ZEKÂSI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58A56-DC9D-49B8-B85E-765BD9C9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Kapsam ve Teslimatlar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4F848-2C0A-4DA2-A618-11EA6C44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Tek bir dashboard değil, uçtan uca analitik ürün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A0237-72E1-402C-A842-BEB85594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AF702-447E-4530-884F-244743B8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14975-D70C-48C7-BA64-588E3094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1952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E8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DF932-D9A1-4906-8674-EB3961FF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FF"/>
                </a:solidFill>
              </a:defRPr>
            </a:pPr>
            <a:r>
              <a:rPr sz="975" b="1">
                <a:solidFill>
                  <a:srgbClr val="2E8B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A51AF-D067-4E03-98F8-4B80A20B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3"/>
                </a:solidFill>
              </a:defRPr>
            </a:pPr>
            <a:r>
              <a:rPr sz="1200" b="1">
                <a:solidFill>
                  <a:srgbClr val="071423"/>
                </a:solidFill>
              </a:rPr>
              <a:t>Veri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4145B-44C1-477D-968A-4A3AD1E6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Sentetik ama ilişkisel CRM, sipariş ve etkileşim verisi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B7A21-40EE-4A2C-BFE2-47E97682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19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78A"/>
                </a:solidFill>
              </a:defRPr>
            </a:pPr>
            <a:r>
              <a:rPr sz="1500" b="1">
                <a:solidFill>
                  <a:srgbClr val="68778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FF2DE-5FC9-43A4-9859-A980E5CB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466850"/>
            <a:ext cx="1952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9F9FC"/>
          </a:solidFill>
          <a:ln xmlns:a="http://schemas.openxmlformats.org/drawingml/2006/main" w="9525">
            <a:solidFill>
              <a:srgbClr val="2AC7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CB572-92E9-4EF4-B04E-B3FDB829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609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C7E8"/>
                </a:solidFill>
              </a:defRPr>
            </a:pPr>
            <a:r>
              <a:rPr sz="975" b="1">
                <a:solidFill>
                  <a:srgbClr val="2AC7E8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B8A06A-E55C-455D-ADFA-AC9E167F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9240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3"/>
                </a:solidFill>
              </a:defRPr>
            </a:pPr>
            <a:r>
              <a:rPr sz="1200" b="1">
                <a:solidFill>
                  <a:srgbClr val="071423"/>
                </a:solidFill>
              </a:rPr>
              <a:t>Analitik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D245E-D785-4DF5-933F-9B35F38A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81250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RFM, cohort, CLV, churn ve SHAP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2642B-298B-40C8-9FFE-737AF2C2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19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78A"/>
                </a:solidFill>
              </a:defRPr>
            </a:pPr>
            <a:r>
              <a:rPr sz="1500" b="1">
                <a:solidFill>
                  <a:srgbClr val="68778A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17892-889A-4817-BFDF-446FA7CD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466850"/>
            <a:ext cx="1952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26C6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41508-B641-494B-B09F-C68476F8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09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C6A5"/>
                </a:solidFill>
              </a:defRPr>
            </a:pPr>
            <a:r>
              <a:rPr sz="975" b="1">
                <a:solidFill>
                  <a:srgbClr val="26C6A5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EE2BDA-E910-4B47-ACFA-541FBF6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240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3"/>
                </a:solidFill>
              </a:defRPr>
            </a:pPr>
            <a:r>
              <a:rPr sz="1200" b="1">
                <a:solidFill>
                  <a:srgbClr val="071423"/>
                </a:solidFill>
              </a:rPr>
              <a:t>Karar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7DCBC-158F-4679-9EF4-9C079F58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81250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Risk × değer × ROI hedefleme mantığı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283CC8-0DEB-495D-B482-CF7D655B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19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78A"/>
                </a:solidFill>
              </a:defRPr>
            </a:pPr>
            <a:r>
              <a:rPr sz="1500" b="1">
                <a:solidFill>
                  <a:srgbClr val="68778A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BB0269-E4E3-4066-A2CA-65B64212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466850"/>
            <a:ext cx="1952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987C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B8405-6406-42E0-8D12-018E62D3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09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87CF5"/>
                </a:solidFill>
              </a:defRPr>
            </a:pPr>
            <a:r>
              <a:rPr sz="975" b="1">
                <a:solidFill>
                  <a:srgbClr val="987CF5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F6D4E4-3D64-4F7A-A89F-31E29192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240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3"/>
                </a:solidFill>
              </a:defRPr>
            </a:pPr>
            <a:r>
              <a:rPr sz="1200" b="1">
                <a:solidFill>
                  <a:srgbClr val="071423"/>
                </a:solidFill>
              </a:rPr>
              <a:t>Teslimat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22D7C4-CF20-4D55-AC8C-0610390E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381250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BI, Excel, API, SQL ve raporlama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50FCE8-F905-4C69-A0AE-D2D20488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19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78A"/>
                </a:solidFill>
              </a:defRPr>
            </a:pPr>
            <a:r>
              <a:rPr sz="1500" b="1">
                <a:solidFill>
                  <a:srgbClr val="68778A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B184A2-10AA-481E-9984-0ABD1DCD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466850"/>
            <a:ext cx="1952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079D2A-0F52-4642-98A3-0537F65A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09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623"/>
                </a:solidFill>
              </a:defRPr>
            </a:pPr>
            <a:r>
              <a:rPr sz="975" b="1">
                <a:solidFill>
                  <a:srgbClr val="F5A623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8F7483-1373-44BB-A707-897BA0FC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240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3"/>
                </a:solidFill>
              </a:defRPr>
            </a:pPr>
            <a:r>
              <a:rPr sz="1200" b="1">
                <a:solidFill>
                  <a:srgbClr val="071423"/>
                </a:solidFill>
              </a:rPr>
              <a:t>Kontrol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2E9FA1-C8E2-4B7C-9BC8-E26741AD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81250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Test, drift, adalet ve dokümantasyon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EB026F-74A5-4633-9888-1E7DB622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11D455-3644-4DA8-B92C-9E94B11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667125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033"/>
                </a:solidFill>
              </a:defRPr>
            </a:pPr>
            <a:r>
              <a:rPr sz="1200" b="0">
                <a:solidFill>
                  <a:srgbClr val="122033"/>
                </a:solidFill>
              </a:rPr>
              <a:t>12 sayfalık Power BI PBIP ve DAX ölçü kütüphanesi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17E544-792D-4D0F-AE26-DE9E454D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96E22D-7F24-41BD-A4A2-63E40B88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162425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033"/>
                </a:solidFill>
              </a:defRPr>
            </a:pPr>
            <a:r>
              <a:rPr sz="1200" b="0">
                <a:solidFill>
                  <a:srgbClr val="122033"/>
                </a:solidFill>
              </a:rPr>
              <a:t>24 sayfalık formül destekli Excel kampanya planlama modeli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780F56-9725-413A-BECA-3E780B4E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736109-3C6A-4EC1-ABB6-9DD9B608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57725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033"/>
                </a:solidFill>
              </a:defRPr>
            </a:pPr>
            <a:r>
              <a:rPr sz="1200" b="0">
                <a:solidFill>
                  <a:srgbClr val="122033"/>
                </a:solidFill>
              </a:rPr>
              <a:t>Tableau workbook, Streamlit uygulaması ve FastAPI skorlama servisi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70C0A6-F488-471A-A130-494D246C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24AA79-A772-4447-9F64-01EB392F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53025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033"/>
                </a:solidFill>
              </a:defRPr>
            </a:pPr>
            <a:r>
              <a:rPr sz="1200" b="0">
                <a:solidFill>
                  <a:srgbClr val="122033"/>
                </a:solidFill>
              </a:rPr>
              <a:t>20'şer sayfalık Türkçe/İngilizce sunum ve vektör HD rapor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91DCF1-AA70-4D13-80B7-7F914370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49720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987CF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079B0D-81B8-498A-B338-B9E1DE08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7187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6A3B74-BFBD-406E-833B-740B07EF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24275"/>
            <a:ext cx="461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87CF5"/>
                </a:solidFill>
              </a:defRPr>
            </a:pPr>
            <a:r>
              <a:rPr sz="1125" b="1">
                <a:solidFill>
                  <a:srgbClr val="987CF5"/>
                </a:solidFill>
              </a:rPr>
              <a:t>Portföy gücü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E87245-E353-4C85-B603-0ABA5CEB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38600"/>
            <a:ext cx="46101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Proje yalnızca tahmin üretmiyor; veri mühendisliği, model değerlendirme, açıklanabilirlik, iş kuralı, görselleştirme, API, test ve yönetişimi tek ürün yaklaşımında birleştiriyor.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A580A5-7A02-411D-9969-BEAEC4B6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Sentetik portföy verisi • 2022–2025 • Üretim kesiti: 31 Ara 2025 • Para birimi: TRY</a:t>
            </a:r>
          </a:p>
        </p:txBody>
      </p:sp>
    </p:spTree>
    <p:extLst>
      <p:ext uri="{BB962C8B-B14F-4D97-AF65-F5344CB8AC3E}">
        <p14:creationId xmlns:p14="http://schemas.microsoft.com/office/powerpoint/2010/main" val="15825161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17FDD0-B93B-4C75-960E-3E501DD4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MÜŞTERİ ZEKÂSI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98962-EF48-4B32-BDBA-40DBA5CB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Veri Kapsamı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3C013-29DC-499A-B170-6339BDE4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Dört yıllık, ilişkisel, yönetişimli ve gizlilik güvenli portföy verisi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EB8E6-85CE-413A-90B1-BAEF8C1D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A5CB2-B9D8-4F74-AEBC-A7F52A94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D5F7B-502A-45B8-988D-E8EA0474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3476625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C4887-5C17-4E92-921B-2B10118F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666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04BB7-ADC6-48B0-8D9E-D7643B5A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MÜŞTERI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FD4CF-4DCA-4124-92DE-0BFAFEA8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3133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8BFF"/>
                </a:solidFill>
              </a:defRPr>
            </a:pPr>
            <a:r>
              <a:rPr sz="1875" b="1">
                <a:solidFill>
                  <a:srgbClr val="2E8BFF"/>
                </a:solidFill>
              </a:rPr>
              <a:t>6,000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4503D-5769-4852-890F-A46ABB81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3133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Demografi, izin ve sadakat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0AAB0-3DF1-4F59-87BC-62DB1E6D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09700"/>
            <a:ext cx="3476625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83D73-BA4A-4E93-B3A1-B886CEDA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09700"/>
            <a:ext cx="666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C7E8"/>
          </a:solidFill>
          <a:ln xmlns:a="http://schemas.openxmlformats.org/drawingml/2006/main" w="0">
            <a:solidFill>
              <a:srgbClr val="2AC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6EDCE-5649-49AF-AE55-0EC681A1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SIPARIŞ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3FA20-7800-4B51-A4CB-8904897A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19275"/>
            <a:ext cx="3133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C7E8"/>
                </a:solidFill>
              </a:defRPr>
            </a:pPr>
            <a:r>
              <a:rPr sz="1875" b="1">
                <a:solidFill>
                  <a:srgbClr val="2AC7E8"/>
                </a:solidFill>
              </a:rPr>
              <a:t>50,639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86251-678A-4EEF-8422-5464B478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133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4 yıllık ticari geçmiş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A8221-ACE3-419C-A7F6-77BD2197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09700"/>
            <a:ext cx="3476625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79724-BEC0-4A66-A778-600CCA69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09700"/>
            <a:ext cx="666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19E45B-704B-45D0-A458-52E9D708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71625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SIPARIŞ SATIRI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B8327-DDE8-4AFB-A9D2-DC10B0E4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19275"/>
            <a:ext cx="3133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C6A5"/>
                </a:solidFill>
              </a:defRPr>
            </a:pPr>
            <a:r>
              <a:rPr sz="1875" b="1">
                <a:solidFill>
                  <a:srgbClr val="26C6A5"/>
                </a:solidFill>
              </a:rPr>
              <a:t>103,044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D49A6-5EAC-4B22-9F60-3BF5B270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3133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Ürün ve marj granülerliği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DE378-00D8-4022-A1C3-E618CF7F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2775"/>
            <a:ext cx="3476625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7C551-E815-4790-A48F-7049F5C5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2775"/>
            <a:ext cx="666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7242EE-F729-40FD-9F6C-15988D26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AYLIK ETKILEŞIM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FCE93A-6BCF-4538-945F-16DB6254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3133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87CF5"/>
                </a:solidFill>
              </a:defRPr>
            </a:pPr>
            <a:r>
              <a:rPr sz="1875" b="1">
                <a:solidFill>
                  <a:srgbClr val="987CF5"/>
                </a:solidFill>
              </a:rPr>
              <a:t>130,671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8A5FD7-C314-4608-BA62-D19EABE8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3133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Oturum, e-posta ve destek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E227BB-9070-470A-A6CB-DC1ADD98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52775"/>
            <a:ext cx="3476625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AEE43B-F6AE-4A7D-97BB-AB5105E4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52775"/>
            <a:ext cx="666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6C6B98-6CA5-407A-A722-F17B0181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14700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KAMPANYA YANITI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B8FDEE-FD43-4D1C-A842-67BC6EF3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62350"/>
            <a:ext cx="3133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A623"/>
                </a:solidFill>
              </a:defRPr>
            </a:pPr>
            <a:r>
              <a:rPr sz="1875" b="1">
                <a:solidFill>
                  <a:srgbClr val="F5A623"/>
                </a:solidFill>
              </a:rPr>
              <a:t>12,000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18386D-CDB6-4055-B440-894B0E94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0025"/>
            <a:ext cx="3133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Kontrollü tepki geçmişi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462D6C-D236-47BE-9DD2-911C72CB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3476625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A3B6FE-31CC-438C-8B06-823AFBAF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666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79"/>
          </a:solidFill>
          <a:ln xmlns:a="http://schemas.openxmlformats.org/drawingml/2006/main" w="0">
            <a:solidFill>
              <a:srgbClr val="16A07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3A1BF5-DDAA-4020-8E63-A2095339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TAKVIM GÜNÜ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5FCF8B-9EEE-4F03-971A-880F8093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62350"/>
            <a:ext cx="3133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A079"/>
                </a:solidFill>
              </a:defRPr>
            </a:pPr>
            <a:r>
              <a:rPr sz="1875" b="1">
                <a:solidFill>
                  <a:srgbClr val="16A079"/>
                </a:solidFill>
              </a:rPr>
              <a:t>1,461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5E9FC3-5BE4-471D-9CC3-8EF616AE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0025"/>
            <a:ext cx="3133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Zaman zekâsı omurgası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348D1D-9EF5-4A09-8C29-EADF221D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087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26C6A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97A73-0E55-40E1-BDFE-4B0C22F5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E776E3-4CA5-4A25-BBCD-A8EB5A4E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48275"/>
            <a:ext cx="1072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C6A5"/>
                </a:solidFill>
              </a:defRPr>
            </a:pPr>
            <a:r>
              <a:rPr sz="1125" b="1">
                <a:solidFill>
                  <a:srgbClr val="26C6A5"/>
                </a:solidFill>
              </a:rPr>
              <a:t>Gizlilik tasarımı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EB986C-4205-4046-9534-67F75044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72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Veri tamamen sentetiktir; gerçek kişi bilgisi içermez. Müşteri anahtarları anonimdir, pazarlama izni özellik ve hedefleme katmanlarında açık bir kontrol olarak tutulur.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569CE9-F4E3-4FD9-B7B2-D34A0BC2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Sentetik portföy verisi • 2022–2025 • Üretim kesiti: 31 Ara 2025 • Para birimi: TRY</a:t>
            </a:r>
          </a:p>
        </p:txBody>
      </p:sp>
    </p:spTree>
    <p:extLst>
      <p:ext uri="{BB962C8B-B14F-4D97-AF65-F5344CB8AC3E}">
        <p14:creationId xmlns:p14="http://schemas.microsoft.com/office/powerpoint/2010/main" val="32144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FB1FA2-F190-48A9-A076-16E2B1A9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MÜŞTERİ ZEKÂSI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22084-B656-4D0E-820C-B1C01F6A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Çözüm Mimarisi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A8C05-792E-4448-95EF-CF455502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İşlemlerden karara uzanan tekrarlanabilir analitik akış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6CC78-E965-4F15-8E88-1DEDA786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E13D5-2453-4328-BF10-638B57B8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810FF-89EE-42D2-A283-A4B6643D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810500" cy="46863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a1d9f1d8d4d37"/>
          <a:stretch xmlns:a="http://schemas.openxmlformats.org/drawingml/2006/main"/>
        </p:blipFill>
        <p:spPr>
          <a:xfrm xmlns:a="http://schemas.openxmlformats.org/drawingml/2006/main">
            <a:off x="457200" y="1527572"/>
            <a:ext cx="7810500" cy="4393406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CA12E-BFB6-4E26-A30B-BF7D8077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381125"/>
            <a:ext cx="32194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E8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4E0CD-F23C-446D-A894-8D5069D0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381125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8FD94-3363-4ED1-A577-ED12D921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335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FF"/>
                </a:solidFill>
              </a:defRPr>
            </a:pPr>
            <a:r>
              <a:rPr sz="1125" b="1">
                <a:solidFill>
                  <a:srgbClr val="2E8BFF"/>
                </a:solidFill>
              </a:rPr>
              <a:t>Analitik katman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65F55-6A9C-4F8B-A683-D04DABE8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478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Python ile özellik üretimi, RFM/cohort analizi, churn sınıflandırması, CLV regresyonu ve SHAP açıklamaları.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126AC-C41F-4ADD-8F11-4E66D46E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71800"/>
            <a:ext cx="32194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26C6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4571C-BB66-447D-A603-33848DE1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7180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5D5F0-9FA2-40A6-A105-DD2FEA63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24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C6A5"/>
                </a:solidFill>
              </a:defRPr>
            </a:pPr>
            <a:r>
              <a:rPr sz="1125" b="1">
                <a:solidFill>
                  <a:srgbClr val="26C6A5"/>
                </a:solidFill>
              </a:rPr>
              <a:t>Karar katmanı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D6BCF-1B64-4986-B8E2-0990C3E0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3852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Risk, değer, izin, maliyet ve beklenen marjı birleştiren sonraki en iyi aksiyon kuralları.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3BBEA-AAD0-4172-ADC4-F884468C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62475"/>
            <a:ext cx="32194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987C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D3E85-1E61-4850-88F3-6998A488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62475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EB2E3-139E-44D4-8D36-6DC43C22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148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87CF5"/>
                </a:solidFill>
              </a:defRPr>
            </a:pPr>
            <a:r>
              <a:rPr sz="1125" b="1">
                <a:solidFill>
                  <a:srgbClr val="987CF5"/>
                </a:solidFill>
              </a:rPr>
              <a:t>Teslimat katmanı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C58F9-1DA7-41AF-9E1B-A8FF9729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2920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Power BI, Excel, Tableau, Streamlit, FastAPI, SQL ve yönetici raporlaması.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4BDF4D-6335-4876-9D17-A10DB36F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Sentetik portföy verisi • 2022–2025 • Üretim kesiti: 31 Ara 2025 • Para birimi: TRY</a:t>
            </a:r>
          </a:p>
        </p:txBody>
      </p:sp>
    </p:spTree>
    <p:extLst>
      <p:ext uri="{BB962C8B-B14F-4D97-AF65-F5344CB8AC3E}">
        <p14:creationId xmlns:p14="http://schemas.microsoft.com/office/powerpoint/2010/main" val="12034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7F798E-02F9-4CA6-AA3D-D0F7B93C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MÜŞTERİ ZEKÂSI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946A7-CA37-4C34-BFB1-61388BD6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Customer 360 ve Semantik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29F82-287E-4E08-8B01-80A9F7C1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Değer, risk ve aksiyon için tek müşteri karar kaydı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5AEB4-94FD-498C-B8C9-A5E12B80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13A41-349A-4728-8FC5-D775836E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F87F2-0E11-4CD0-B7C8-6096C393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7000875" cy="44577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f9d2b63fe4fd6"/>
          <a:stretch xmlns:a="http://schemas.openxmlformats.org/drawingml/2006/main"/>
        </p:blipFill>
        <p:spPr>
          <a:xfrm xmlns:a="http://schemas.openxmlformats.org/drawingml/2006/main">
            <a:off x="457200" y="1669554"/>
            <a:ext cx="7000875" cy="3937992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0CE84-6D54-4BF1-BD5A-1CB11A61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09700"/>
            <a:ext cx="4019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2E48A-B340-4B94-8E89-DE5A6CC0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097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678D7-DFF4-4E24-B94F-AD45348C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62100"/>
            <a:ext cx="365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FF"/>
                </a:solidFill>
              </a:defRPr>
            </a:pPr>
            <a:r>
              <a:rPr sz="1125" b="1">
                <a:solidFill>
                  <a:srgbClr val="2E8BFF"/>
                </a:solidFill>
              </a:rPr>
              <a:t>Kim?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1DA61-6D1D-4348-857F-7652962A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76425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Bölge, kanal, sadakat seviyesi ve pazarlama izni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DD228-BF13-4746-BD3D-411E2AAB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4019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C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05AF6-B599-40A6-85C6-17B0D7B2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C7E8"/>
          </a:solidFill>
          <a:ln xmlns:a="http://schemas.openxmlformats.org/drawingml/2006/main" w="0">
            <a:solidFill>
              <a:srgbClr val="2AC7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F8EF8-7840-4BC5-A6DE-C5A7AAE5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365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AC7E8"/>
                </a:solidFill>
              </a:defRPr>
            </a:pPr>
            <a:r>
              <a:rPr sz="1125" b="1">
                <a:solidFill>
                  <a:srgbClr val="2AC7E8"/>
                </a:solidFill>
              </a:rPr>
              <a:t>Ne yaptı?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101DD-7F82-45C6-B956-4CB0EA1C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71775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12 aylık sipariş, gelir, marj ve iade davranışı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52B07D-9143-47C8-955B-3D5C2EE1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4019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6C6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02A30-0938-4714-934A-E8CB14CB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4DFA92-5A03-4177-9E88-E1FC6FBF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65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C6A5"/>
                </a:solidFill>
              </a:defRPr>
            </a:pPr>
            <a:r>
              <a:rPr sz="1125" b="1">
                <a:solidFill>
                  <a:srgbClr val="26C6A5"/>
                </a:solidFill>
              </a:rPr>
              <a:t>Değeri ne?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FE9AB-4125-457E-BDDD-95AF0E6C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67125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RFM segmenti, CLV tahmini ve değer bandı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DEDD0-1CB4-4FEF-A335-80F76D75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4019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87C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7CF09E-F808-4E87-996A-7934CADA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65EB62-5CEF-46EF-AE96-D638B4BD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48150"/>
            <a:ext cx="365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87CF5"/>
                </a:solidFill>
              </a:defRPr>
            </a:pPr>
            <a:r>
              <a:rPr sz="1125" b="1">
                <a:solidFill>
                  <a:srgbClr val="987CF5"/>
                </a:solidFill>
              </a:rPr>
              <a:t>Riski ne?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FFE41E-739E-4D4E-81DC-EA61FF5F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62475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90 günlük churn olasılığı, risk bandı ve SHAP nedenleri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6EAF76-2B26-41DB-B142-B9062C27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91100"/>
            <a:ext cx="4019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918097-804E-4EAB-9CCA-714BD812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911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009887-A5E0-4D18-9DB1-5B47447B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43500"/>
            <a:ext cx="365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A623"/>
                </a:solidFill>
              </a:defRPr>
            </a:pPr>
            <a:r>
              <a:rPr sz="1125" b="1">
                <a:solidFill>
                  <a:srgbClr val="F5A623"/>
                </a:solidFill>
              </a:rPr>
              <a:t>Ne yapmalı?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0A5270-C9F0-42F7-898C-5D082665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Önerilen aksiyon, teklif maliyeti ve beklenen ROI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76BD51-B7A0-4CAE-AA95-EA0D470A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Sentetik portföy verisi • 2022–2025 • Üretim kesiti: 31 Ara 2025 • Para birimi: TRY</a:t>
            </a:r>
          </a:p>
        </p:txBody>
      </p:sp>
    </p:spTree>
    <p:extLst>
      <p:ext uri="{BB962C8B-B14F-4D97-AF65-F5344CB8AC3E}">
        <p14:creationId xmlns:p14="http://schemas.microsoft.com/office/powerpoint/2010/main" val="13254808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C26607-C73B-4E73-B291-AABF4232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MÜŞTERİ ZEKÂSI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CA5D0-C79E-48ED-BD88-73F55556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RFM Segmentasyonu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EAF0F-92B6-41F9-8259-F37E9E9A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Davranışsal grupları ölçülebilir müşteri ekonomisine bağlama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0657D-9674-405D-871F-DA7BF222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59BBF-4093-43C5-8119-7ABAFE5A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55101-1028-4E59-9143-177C9FF5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4295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53027f7c74fa1"/>
          <a:stretch xmlns:a="http://schemas.openxmlformats.org/drawingml/2006/main"/>
        </p:blipFill>
        <p:spPr>
          <a:xfrm xmlns:a="http://schemas.openxmlformats.org/drawingml/2006/main">
            <a:off x="457200" y="1672828"/>
            <a:ext cx="7429500" cy="4179094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E55AF-6B86-4200-A11E-DD8F22DE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81125"/>
            <a:ext cx="3600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C018A-FD96-4552-AE9A-71DE21C3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81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2D702-8F86-4B09-9FDD-5D2676CD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43050"/>
            <a:ext cx="3257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ŞAMPIYONLAR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CD6DF-D269-455E-B91B-9C923612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907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87CF5"/>
                </a:solidFill>
              </a:defRPr>
            </a:pPr>
            <a:r>
              <a:rPr sz="1875" b="1">
                <a:solidFill>
                  <a:srgbClr val="987CF5"/>
                </a:solidFill>
              </a:rPr>
              <a:t>TRY 7.3M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1487C-3456-427B-BF3A-AD713B6D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38375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1,612 müşteri • 19.0%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4A204-FBAD-406D-98B9-106DC0C5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3600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09ECF-8280-4575-A3B8-17518C82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CE1A8-EDCC-4DF1-B62B-23E32F02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24175"/>
            <a:ext cx="3257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SADIK MÜŞTERILER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599CA-FF24-424B-994E-EEE86AE9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71825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8BFF"/>
                </a:solidFill>
              </a:defRPr>
            </a:pPr>
            <a:r>
              <a:rPr sz="1875" b="1">
                <a:solidFill>
                  <a:srgbClr val="2E8BFF"/>
                </a:solidFill>
              </a:rPr>
              <a:t>TRY 1.7M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0696C-8FE6-451A-AE5D-558E6586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195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712 müşteri • 36.7%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6C546-9B0D-4003-9BD0-0DB01377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43375"/>
            <a:ext cx="3600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1BF37-CF15-42C8-AA82-2729F0E7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4337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AEBE7-6DB4-4A4B-9277-0F733237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05300"/>
            <a:ext cx="3257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POTANSIYEL SADIKLAR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1A1C9-49A0-4B99-AA45-4B0D3ED7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5295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C6A5"/>
                </a:solidFill>
              </a:defRPr>
            </a:pPr>
            <a:r>
              <a:rPr sz="1875" b="1">
                <a:solidFill>
                  <a:srgbClr val="26C6A5"/>
                </a:solidFill>
              </a:rPr>
              <a:t>TRY 1.4M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212A5-A6A9-48FA-86FC-C65D4158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00625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635 müşteri • 34.2%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35EDBB-47D8-4CA8-95C6-79F323E7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24500"/>
            <a:ext cx="36004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7F439-B076-4673-A4A2-9473235A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24500"/>
            <a:ext cx="571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781A6-8DE7-4541-9D78-C319E2EF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7690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A623"/>
                </a:solidFill>
              </a:defRPr>
            </a:pPr>
            <a:r>
              <a:rPr sz="1125" b="1">
                <a:solidFill>
                  <a:srgbClr val="F5A623"/>
                </a:solidFill>
              </a:rPr>
              <a:t>Ticari yorum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A80165-106C-4B50-A2EC-985DF4C7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991225"/>
            <a:ext cx="323850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Şampiyonlar CLV portföyünün temelini oluştururken risk altındaki gruplarda seçici geri kazanım gerekir.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FEFB5F-BDB7-4053-8918-86B41CCC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Sentetik portföy verisi • 2022–2025 • Üretim kesiti: 31 Ara 2025 • Para birimi: TRY</a:t>
            </a:r>
          </a:p>
        </p:txBody>
      </p:sp>
    </p:spTree>
    <p:extLst>
      <p:ext uri="{BB962C8B-B14F-4D97-AF65-F5344CB8AC3E}">
        <p14:creationId xmlns:p14="http://schemas.microsoft.com/office/powerpoint/2010/main" val="13755479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2141D0-D445-45E6-A573-F8EEE0B6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MÜŞTERİ ZEKÂSI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EBA4F-B4E6-4AE8-B2A3-871E07A3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Cohort Elde Tutma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364AD-6A81-4FE2-B55F-41B2767E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Müşteri edinme kalitesini ilk satın alımın ötesinde ölçme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AD35B-0F04-4BDB-AA84-FD9EB939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C87DA-CF70-451B-9C14-10A53404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45703-55C0-4E18-80D8-6D14CE43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90575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8d38b520e427b"/>
          <a:stretch xmlns:a="http://schemas.openxmlformats.org/drawingml/2006/main"/>
        </p:blipFill>
        <p:spPr>
          <a:xfrm xmlns:a="http://schemas.openxmlformats.org/drawingml/2006/main">
            <a:off x="457200" y="1538883"/>
            <a:ext cx="7905750" cy="4446984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BB7CC-B1FD-475E-BE21-013909F0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381125"/>
            <a:ext cx="3124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D4D00-15B4-456B-B4BC-D14258D6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381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0D810-CBC6-489E-A677-51CB922F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4305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3. AY ELDE TUTMA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7EA77-2DF3-47F9-8754-60400B7A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C6A5"/>
                </a:solidFill>
              </a:defRPr>
            </a:pPr>
            <a:r>
              <a:rPr sz="1875" b="1">
                <a:solidFill>
                  <a:srgbClr val="26C6A5"/>
                </a:solidFill>
              </a:rPr>
              <a:t>35.1%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8618D-A477-4E5C-8B4E-B66CD8A4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383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Tüm cohort ortalaması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0A833-642A-4E19-8782-55CB206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52725"/>
            <a:ext cx="3124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2553B-5D87-40E8-8532-43958BEE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527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66D8B-E6ED-4FF9-B300-4985AE87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1465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COHORT UFKU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F72DF-673C-4ECA-9ACD-DFDBFE38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623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8BFF"/>
                </a:solidFill>
              </a:defRPr>
            </a:pPr>
            <a:r>
              <a:rPr sz="1875" b="1">
                <a:solidFill>
                  <a:srgbClr val="2E8BFF"/>
                </a:solidFill>
              </a:rPr>
              <a:t>M0–M12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BBE1E-31BF-45D2-8FF8-A9D8F7BE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099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İlk satın alımdan sonraki aylar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1B019-4850-48FD-9A94-035B2579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24325"/>
            <a:ext cx="31242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987C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F7767F-1EBF-487F-BCF7-B8D70F28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24325"/>
            <a:ext cx="571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A15EF3-7658-4921-A2F3-2A0556B6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767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87CF5"/>
                </a:solidFill>
              </a:defRPr>
            </a:pPr>
            <a:r>
              <a:rPr sz="1125" b="1">
                <a:solidFill>
                  <a:srgbClr val="987CF5"/>
                </a:solidFill>
              </a:rPr>
              <a:t>Nasıl kullanılır?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B21B89-DE36-440E-BBFD-04375D1E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762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Kazanım aylarını karşılaştır; erken dönem düşüşleri kanal, teklif ve onboarding kalitesiyle ilişkilendir; yalnızca toplam aktif müşteri sayısına bakma.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AB398C-8F07-4169-A940-0CBE62CD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Sentetik portföy verisi • 2022–2025 • Üretim kesiti: 31 Ara 2025 • Para birimi: TRY</a:t>
            </a:r>
          </a:p>
        </p:txBody>
      </p:sp>
    </p:spTree>
    <p:extLst>
      <p:ext uri="{BB962C8B-B14F-4D97-AF65-F5344CB8AC3E}">
        <p14:creationId xmlns:p14="http://schemas.microsoft.com/office/powerpoint/2010/main" val="13561112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F1C503-E4A4-4A11-940F-CE680A76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MÜŞTERİ ZEKÂSI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43D7B-8FF5-41E7-BD14-1C96FCEE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Tahmine Dayalı CLV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C9922-4E1C-4FD2-85F0-936B6EBF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12 aylık brüt marj katkısıyla değer bazlı önceliklendirme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39640-6A81-4B72-BD75-A959F3D1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DA538-4FA0-4CD7-99AB-F8E123AB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0672A-22AE-44DC-AA99-E1261BAB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381875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9cb44424e47b0"/>
          <a:stretch xmlns:a="http://schemas.openxmlformats.org/drawingml/2006/main"/>
        </p:blipFill>
        <p:spPr>
          <a:xfrm xmlns:a="http://schemas.openxmlformats.org/drawingml/2006/main">
            <a:off x="457200" y="1686223"/>
            <a:ext cx="7381875" cy="4152305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96F46-541F-4D96-8389-3EC8C610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381125"/>
            <a:ext cx="36480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63044-B575-4AF3-BAB5-A43DC24B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381125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E4308-76E6-4DD3-8864-853D4C4F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543050"/>
            <a:ext cx="3305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ŞAMPIYON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05CB5-2828-4B79-A9D8-7351C730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790700"/>
            <a:ext cx="3305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87CF5"/>
                </a:solidFill>
              </a:defRPr>
            </a:pPr>
            <a:r>
              <a:rPr sz="1875" b="1">
                <a:solidFill>
                  <a:srgbClr val="987CF5"/>
                </a:solidFill>
              </a:rPr>
              <a:t>Random Forest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6D2FC-6329-4FA4-A81E-C6ACDB8A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238375"/>
            <a:ext cx="3305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12 aylık brüt marj hedefi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DCAFE-92CD-4FE8-B8CC-0D721690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76525"/>
            <a:ext cx="17430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77642-D50E-4D38-8217-83E86525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76525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01FDE-74B5-47D9-9A17-D83FF4DA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838450"/>
            <a:ext cx="1400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MAE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D6F428-FBEF-48C1-8B99-48C0A8AC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86100"/>
            <a:ext cx="1400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8BFF"/>
                </a:solidFill>
              </a:defRPr>
            </a:pPr>
            <a:r>
              <a:rPr sz="1875" b="1">
                <a:solidFill>
                  <a:srgbClr val="2E8BFF"/>
                </a:solidFill>
              </a:rPr>
              <a:t>TRY 1.3K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47AD8-60CC-4F4E-BE49-0401A0EE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533775"/>
            <a:ext cx="1400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Holdout hatası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7E709-1E65-4388-BC99-AB13368C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676525"/>
            <a:ext cx="17430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A4D24D-CCEA-4AEF-B9B4-3C85147F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676525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00EBD-D432-4F48-B33C-5E40932C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838450"/>
            <a:ext cx="1400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R²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9A1986-A9CC-4C2D-84EF-CFB25B1F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086100"/>
            <a:ext cx="1400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C6A5"/>
                </a:solidFill>
              </a:defRPr>
            </a:pPr>
            <a:r>
              <a:rPr sz="1875" b="1">
                <a:solidFill>
                  <a:srgbClr val="26C6A5"/>
                </a:solidFill>
              </a:rPr>
              <a:t>0.564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F35DD7-0D34-45DB-9392-DA9E1D02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533775"/>
            <a:ext cx="1400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Açıklanan varyans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2B3C9E-616D-4E4F-9698-484EF06E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71925"/>
            <a:ext cx="17430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C390C7-95DB-4783-820E-3E9BBE2A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71925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EC21BE-4F8C-45C2-880F-E4D153BA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133850"/>
            <a:ext cx="1400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SPEARMAN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8839BC-8A89-4F8A-9DB2-771E578E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381500"/>
            <a:ext cx="1400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A623"/>
                </a:solidFill>
              </a:defRPr>
            </a:pPr>
            <a:r>
              <a:rPr sz="1875" b="1">
                <a:solidFill>
                  <a:srgbClr val="F5A623"/>
                </a:solidFill>
              </a:rPr>
              <a:t>0.792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161ED4-2F77-4035-8D68-9686CACB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829175"/>
            <a:ext cx="1400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Sıralama gücü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219A2D-F947-4592-AD38-058A7CC4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971925"/>
            <a:ext cx="17430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6EB758-F3F9-4C07-A3F1-8CB590CA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971925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AA8BA9-4DD7-4A6D-B09B-CB2F78F9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133850"/>
            <a:ext cx="1400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PORTFÖY CLV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629F05-E228-444A-9F5F-1053DD78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381500"/>
            <a:ext cx="1400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87CF5"/>
                </a:solidFill>
              </a:defRPr>
            </a:pPr>
            <a:r>
              <a:rPr sz="1875" b="1">
                <a:solidFill>
                  <a:srgbClr val="987CF5"/>
                </a:solidFill>
              </a:rPr>
              <a:t>TRY 11.9M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E03C80-A988-42BD-ACD0-17F34AC6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829175"/>
            <a:ext cx="1400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İleri 12 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CFCE3F-8146-49A1-A10B-6B3DA477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267325"/>
            <a:ext cx="36480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26C6A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BBAE1D-E099-4F9E-922B-47EB6FC5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267325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9517AF-2235-4BE0-B6CE-FB2B8994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419725"/>
            <a:ext cx="328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C6A5"/>
                </a:solidFill>
              </a:defRPr>
            </a:pPr>
            <a:r>
              <a:rPr sz="1125" b="1">
                <a:solidFill>
                  <a:srgbClr val="26C6A5"/>
                </a:solidFill>
              </a:rPr>
              <a:t>Karar kullanımı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92F0DC-6204-48B0-A722-35DBB2A9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7340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CLV; teklif maliyeti, hizmet seviyesi ve elde tutma bütçesi için öncelik katsayısıdır.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640AFC-C452-4855-A85A-E499C094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Sentetik portföy verisi • 2022–2025 • Üretim kesiti: 31 Ara 2025 • Para birimi: TRY</a:t>
            </a:r>
          </a:p>
        </p:txBody>
      </p:sp>
    </p:spTree>
    <p:extLst>
      <p:ext uri="{BB962C8B-B14F-4D97-AF65-F5344CB8AC3E}">
        <p14:creationId xmlns:p14="http://schemas.microsoft.com/office/powerpoint/2010/main" val="2051443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BBD0BB-6BE0-40B1-B8CF-51CA4E8C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MÜŞTERİ ZEKÂSI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35E84-1F60-447F-B95A-41338D46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Churn Metodolojisi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BDE01-CB89-4A7C-B02C-F95E46C3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Zaman duyarlı etiket, kalibrasyon ve eşik yönetişimiyle veri sızıntısını önleme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E67F2-FEA7-4BA4-B473-DD71177D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7CD3B-14AF-4DA1-9E72-88AF4C19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CA798-F116-4460-9555-98616AA5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952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E8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F5DD6-57B1-4340-BE08-93D87EA6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BFF"/>
                </a:solidFill>
              </a:defRPr>
            </a:pPr>
            <a:r>
              <a:rPr sz="975" b="1">
                <a:solidFill>
                  <a:srgbClr val="2E8B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826F8-AA06-403A-B129-888E8BD9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3"/>
                </a:solidFill>
              </a:defRPr>
            </a:pPr>
            <a:r>
              <a:rPr sz="1200" b="1">
                <a:solidFill>
                  <a:srgbClr val="071423"/>
                </a:solidFill>
              </a:rPr>
              <a:t>Kesit üret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760E6-EA35-4064-B0FC-52E7A546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2024 çeyrek kesitleriyle geçmiş özellikler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C855A-4BF9-4841-89EE-0AD3C56A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574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78A"/>
                </a:solidFill>
              </a:defRPr>
            </a:pPr>
            <a:r>
              <a:rPr sz="1500" b="1">
                <a:solidFill>
                  <a:srgbClr val="68778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82F93-3A05-4BCC-8026-C1D1956C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504950"/>
            <a:ext cx="1952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9F9FC"/>
          </a:solidFill>
          <a:ln xmlns:a="http://schemas.openxmlformats.org/drawingml/2006/main" w="9525">
            <a:solidFill>
              <a:srgbClr val="2AC7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C3E77-61CF-4E9A-9603-F98B7816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6478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C7E8"/>
                </a:solidFill>
              </a:defRPr>
            </a:pPr>
            <a:r>
              <a:rPr sz="975" b="1">
                <a:solidFill>
                  <a:srgbClr val="2AC7E8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E25F6-B120-4FC2-A80B-E2F0F8B3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9621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3"/>
                </a:solidFill>
              </a:defRPr>
            </a:pPr>
            <a:r>
              <a:rPr sz="1200" b="1">
                <a:solidFill>
                  <a:srgbClr val="071423"/>
                </a:solidFill>
              </a:rPr>
              <a:t>Etiketle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5E29E-7A67-4BFC-8345-AB0624FF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419350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İleri 90 günde satın alma yoksa churn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C39A5-7BD0-4D26-90EE-FEA15904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78A"/>
                </a:solidFill>
              </a:defRPr>
            </a:pPr>
            <a:r>
              <a:rPr sz="1500" b="1">
                <a:solidFill>
                  <a:srgbClr val="68778A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BA375-D314-4A21-9945-1B51AE24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04950"/>
            <a:ext cx="1952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26C6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E36B3-0577-4D1F-A6D3-CF689BEA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478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C6A5"/>
                </a:solidFill>
              </a:defRPr>
            </a:pPr>
            <a:r>
              <a:rPr sz="975" b="1">
                <a:solidFill>
                  <a:srgbClr val="26C6A5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BAEE36-A840-4E3D-BFBE-9FB7E286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621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3"/>
                </a:solidFill>
              </a:defRPr>
            </a:pPr>
            <a:r>
              <a:rPr sz="1200" b="1">
                <a:solidFill>
                  <a:srgbClr val="071423"/>
                </a:solidFill>
              </a:rPr>
              <a:t>Doğrula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20789-A0BD-4973-B1EB-C0A27BF1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31 Ara 2024 zaman bazlı holdout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162E8-59AC-4EB0-AC47-FA5B5357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574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78A"/>
                </a:solidFill>
              </a:defRPr>
            </a:pPr>
            <a:r>
              <a:rPr sz="1500" b="1">
                <a:solidFill>
                  <a:srgbClr val="68778A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870299-6CF8-4EAC-8261-85FCE257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504950"/>
            <a:ext cx="1952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987C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1A8F6F-F7F1-4D34-80B9-8320E596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478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87CF5"/>
                </a:solidFill>
              </a:defRPr>
            </a:pPr>
            <a:r>
              <a:rPr sz="975" b="1">
                <a:solidFill>
                  <a:srgbClr val="987CF5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F52471-EF89-4441-8798-B85B919D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621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3"/>
                </a:solidFill>
              </a:defRPr>
            </a:pPr>
            <a:r>
              <a:rPr sz="1200" b="1">
                <a:solidFill>
                  <a:srgbClr val="071423"/>
                </a:solidFill>
              </a:rPr>
              <a:t>Kalibre 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0F3EAE-6AB5-400D-85BD-CA7E3D68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19350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Olasılık kalitesi ve F1 eşiği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7C79D5-6739-4A21-8522-595018B1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574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78A"/>
                </a:solidFill>
              </a:defRPr>
            </a:pPr>
            <a:r>
              <a:rPr sz="1500" b="1">
                <a:solidFill>
                  <a:srgbClr val="68778A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D5CF30-DDF5-4106-BEF5-FBFB525F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504950"/>
            <a:ext cx="1952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420DC7-B63D-4DC5-A78E-8E95C21F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478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623"/>
                </a:solidFill>
              </a:defRPr>
            </a:pPr>
            <a:r>
              <a:rPr sz="975" b="1">
                <a:solidFill>
                  <a:srgbClr val="F5A623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B1744A-FB5A-438C-A7CC-FAB3FEDB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621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423"/>
                </a:solidFill>
              </a:defRPr>
            </a:pPr>
            <a:r>
              <a:rPr sz="1200" b="1">
                <a:solidFill>
                  <a:srgbClr val="071423"/>
                </a:solidFill>
              </a:rPr>
              <a:t>Üretime 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65C3E7-7A52-4310-A360-1B8FC55C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19350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31 Ara 2025 müşteri skoru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9913FD-BBD1-45CF-AF74-C8EE9C01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2628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4D5F4E-6966-4918-AD9F-FA3145FE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BE4562-A7D1-4036-9ABD-96D4F995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ÖZELLIK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282FA1-C7F6-450E-9B54-BE771B4C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8BFF"/>
                </a:solidFill>
              </a:defRPr>
            </a:pPr>
            <a:r>
              <a:rPr sz="1875" b="1">
                <a:solidFill>
                  <a:srgbClr val="2E8BFF"/>
                </a:solidFill>
              </a:rPr>
              <a:t>16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DD792F-FCDB-4F2A-B159-B75BAF9D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Davranış, değer ve etkileşim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D88039-5B9E-475A-A1E9-90CFFBFA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71875"/>
            <a:ext cx="2628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219957-E86A-46D9-BA73-B819F274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7187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C7E8"/>
          </a:solidFill>
          <a:ln xmlns:a="http://schemas.openxmlformats.org/drawingml/2006/main" w="0">
            <a:solidFill>
              <a:srgbClr val="2AC7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C63020-7331-4BFC-AF49-4D22CD64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33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TAHMIN UFKU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9CA6E3-C796-4588-BA30-F9C6529C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814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C7E8"/>
                </a:solidFill>
              </a:defRPr>
            </a:pPr>
            <a:r>
              <a:rPr sz="1875" b="1">
                <a:solidFill>
                  <a:srgbClr val="2AC7E8"/>
                </a:solidFill>
              </a:rPr>
              <a:t>90 days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F34539-F1C1-451B-924A-EB73376D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291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İleriye dönük churn etiketi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49BC73-CD0D-4057-A323-A9DDA4D0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2628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4EBEB2-0B0E-4460-B419-ABF9CD79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813718-5A2B-4AC6-9B9A-0A26AA86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KARAR EŞIĞI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A4FB09-0E88-4A19-878D-D759B9BE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A623"/>
                </a:solidFill>
              </a:defRPr>
            </a:pPr>
            <a:r>
              <a:rPr sz="1875" b="1">
                <a:solidFill>
                  <a:srgbClr val="F5A623"/>
                </a:solidFill>
              </a:rPr>
              <a:t>0.33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53F1AB-E3D0-452E-A9BE-7D2426B7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Holdout öncesi eğitim setinde seçildi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051C88-1635-47A9-8434-86DC846C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71875"/>
            <a:ext cx="28194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2203D6-A5F1-4E70-A9B6-4F521001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7187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D32A76-E3EE-4B29-B135-15A318DC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338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KALIBRASYON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E5668A-2E23-476C-B4BD-072AE20C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814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C6A5"/>
                </a:solidFill>
              </a:defRPr>
            </a:pPr>
            <a:r>
              <a:rPr sz="1875" b="1">
                <a:solidFill>
                  <a:srgbClr val="26C6A5"/>
                </a:solidFill>
              </a:rPr>
              <a:t>Brier 0.145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FFC3C8-466B-45EA-9134-D8342E9E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29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Olasılık güvenilirliği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723FA6-2A0B-4FF4-80AB-13399E59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F2556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1CA38B-583D-44BD-843C-408AA0FE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571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56D"/>
          </a:solidFill>
          <a:ln xmlns:a="http://schemas.openxmlformats.org/drawingml/2006/main" w="0">
            <a:solidFill>
              <a:srgbClr val="F2556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D3C428-6EB3-4E73-AF42-025F3F34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48275"/>
            <a:ext cx="10915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556D"/>
                </a:solidFill>
              </a:defRPr>
            </a:pPr>
            <a:r>
              <a:rPr sz="1125" b="1">
                <a:solidFill>
                  <a:srgbClr val="F2556D"/>
                </a:solidFill>
              </a:rPr>
              <a:t>Sızıntı kontrolü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4B1EE0F-CC88-4AFD-8A54-BBBCC564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Her özellik yalnızca kesit tarihine kadar olan bilgiden üretilir. Eşik seçimi ve model karşılaştırması, üretim kesitinden önce tamamlanır.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B942A5-DB80-413F-A1B6-770466D7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Sentetik portföy verisi • 2022–2025 • Üretim kesiti: 31 Ara 2025 • Para birimi: TRY</a:t>
            </a:r>
          </a:p>
        </p:txBody>
      </p:sp>
    </p:spTree>
    <p:extLst>
      <p:ext uri="{BB962C8B-B14F-4D97-AF65-F5344CB8AC3E}">
        <p14:creationId xmlns:p14="http://schemas.microsoft.com/office/powerpoint/2010/main" val="11143872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A9C9E3-E7EF-413B-9C7C-E422A908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MÜŞTERİ ZEKÂSI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887DB-5079-4CAB-8029-8312396E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Risk Portföyü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10EA0-D935-4106-BC74-4B6C7FD8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Elde tutma çabasını gelir maruziyetinin en yüksek olduğu müşterilere odaklama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49F15-624A-4E64-A382-63571E54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58E5D-D383-4B28-A697-C7EC2611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5072F-7752-4ADF-9A80-5B23D8FE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8105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a1923cbc0488d"/>
          <a:stretch xmlns:a="http://schemas.openxmlformats.org/drawingml/2006/main"/>
        </p:blipFill>
        <p:spPr>
          <a:xfrm xmlns:a="http://schemas.openxmlformats.org/drawingml/2006/main">
            <a:off x="457200" y="1565672"/>
            <a:ext cx="7810500" cy="4393406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7FEE1-6BE6-4DDD-AE12-C08D1595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381125"/>
            <a:ext cx="3219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32B03-9D56-47E3-902D-4D951BCE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381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56D"/>
          </a:solidFill>
          <a:ln xmlns:a="http://schemas.openxmlformats.org/drawingml/2006/main" w="0">
            <a:solidFill>
              <a:srgbClr val="F255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189AA-E437-45A9-8515-7ECA9AD5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43050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YÜKSEK / KRITIK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E59CB-7AA8-4A4C-8D3D-C8F0649A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907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556D"/>
                </a:solidFill>
              </a:defRPr>
            </a:pPr>
            <a:r>
              <a:rPr sz="1875" b="1">
                <a:solidFill>
                  <a:srgbClr val="F2556D"/>
                </a:solidFill>
              </a:rPr>
              <a:t>2,682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477A2-F97B-4B0C-8AE0-9D1E67F9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3837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Müşteri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20D29-F7D8-4677-A3C3-950922A8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52725"/>
            <a:ext cx="3219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C666E-ABB3-45CA-AC67-C3FE8E47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527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A957D-5C51-429C-A62D-60EE75B3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RISKTEKI GELIR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FE08C-EEFE-42B7-A79D-094EDA81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623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A623"/>
                </a:solidFill>
              </a:defRPr>
            </a:pPr>
            <a:r>
              <a:rPr sz="1875" b="1">
                <a:solidFill>
                  <a:srgbClr val="F5A623"/>
                </a:solidFill>
              </a:rPr>
              <a:t>TRY 6.0M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684E6-24A3-4792-8A14-84094875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0997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Son 12 ay gelir maruziyeti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8F72E1-437B-4816-BFF5-2E5564FE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24325"/>
            <a:ext cx="321945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987C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932BC-71A6-482B-975E-77D1B464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24325"/>
            <a:ext cx="571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D88950-7AD6-4AE9-BF43-28039327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767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87CF5"/>
                </a:solidFill>
              </a:defRPr>
            </a:pPr>
            <a:r>
              <a:rPr sz="1125" b="1">
                <a:solidFill>
                  <a:srgbClr val="987CF5"/>
                </a:solidFill>
              </a:rPr>
              <a:t>Öncelik mantığı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99CAB2-49DB-4DAF-A1BE-C3FFB7E2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91050"/>
            <a:ext cx="2857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Kritik risk otomatik olarak yüksek harcama anlamına gelmez. CLV, marj, izin ve beklenen tepki birlikte değerlendirilir; düşük ekonomik değerli kayıtlar bastırılabilir.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A6DE9A-5F67-4314-A040-74440B7A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Sentetik portföy verisi • 2022–2025 • Üretim kesiti: 31 Ara 2025 • Para birimi: TRY</a:t>
            </a:r>
          </a:p>
        </p:txBody>
      </p:sp>
    </p:spTree>
    <p:extLst>
      <p:ext uri="{BB962C8B-B14F-4D97-AF65-F5344CB8AC3E}">
        <p14:creationId xmlns:p14="http://schemas.microsoft.com/office/powerpoint/2010/main" val="4566373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8A7FE8-25B8-48EA-AEA9-C6B82106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MÜŞTERİ ZEKÂSI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46D38-01BE-44D0-BF91-D1848883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Model Performansı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857AF-B680-46FB-942D-D3E1D46D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Şampiyon model seçiminde ayırt etme, kalibrasyon ve ticari kaldıracı dengeleme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D2687-C192-429D-95AE-8A5F7BA5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A1686-B21E-4632-8871-D28C9C2B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581E7-2977-42D9-A60B-A3B6C7C2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477125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ca52e1bbf4fe1"/>
          <a:stretch xmlns:a="http://schemas.openxmlformats.org/drawingml/2006/main"/>
        </p:blipFill>
        <p:spPr>
          <a:xfrm xmlns:a="http://schemas.openxmlformats.org/drawingml/2006/main">
            <a:off x="457200" y="1659434"/>
            <a:ext cx="7477125" cy="4205883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1624B-6C24-47D4-87AE-5387B929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381125"/>
            <a:ext cx="1676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C5F38-56D5-4DC0-ADB3-D75D7772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3811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609DA-7A00-4D40-A04F-9D537B22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5430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ROC-AUC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D322E-F5D3-4C61-A3FF-997ACA9A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7907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8BFF"/>
                </a:solidFill>
              </a:defRPr>
            </a:pPr>
            <a:r>
              <a:rPr sz="1875" b="1">
                <a:solidFill>
                  <a:srgbClr val="2E8BFF"/>
                </a:solidFill>
              </a:rPr>
              <a:t>0.867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339B9-0A1C-4D15-9203-19BA1AAA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2383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Ayırt etme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D93C9-A877-4F72-A91A-F89FA5A1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381125"/>
            <a:ext cx="1676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498CB-92C8-40C7-A6FB-13DDD2D1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3811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5853A-6F66-4C63-932A-8C939A23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5430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PR-AUC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A723E-D857-49FB-8416-F39E4DEF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7907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C6A5"/>
                </a:solidFill>
              </a:defRPr>
            </a:pPr>
            <a:r>
              <a:rPr sz="1875" b="1">
                <a:solidFill>
                  <a:srgbClr val="26C6A5"/>
                </a:solidFill>
              </a:rPr>
              <a:t>0.908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B6549-6399-4EFC-A74C-14378913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2383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Dengesiz sınıf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2F392-E37C-4015-83C1-2AF29654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76525"/>
            <a:ext cx="1676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86EB08-81D8-41DB-9C15-B952C411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765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63284-8208-4004-8580-C480578F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8384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İLK %10 LIFT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4CB8B-0743-4948-8267-9FE6BDF2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086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A623"/>
                </a:solidFill>
              </a:defRPr>
            </a:pPr>
            <a:r>
              <a:rPr sz="1875" b="1">
                <a:solidFill>
                  <a:srgbClr val="F5A623"/>
                </a:solidFill>
              </a:rPr>
              <a:t>1.77x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A6977-4D52-492A-B999-196B1FDB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5337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Hedefleme gücü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EC78C3-F038-46A7-9D65-4B88BDE7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76525"/>
            <a:ext cx="1676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59DB88-4633-4FAE-8C3E-656AFEFF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765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164BF2-10C1-4AB2-B0CF-14D34988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8384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F1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527279-B4A3-429D-8624-088F0021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86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87CF5"/>
                </a:solidFill>
              </a:defRPr>
            </a:pPr>
            <a:r>
              <a:rPr sz="1875" b="1">
                <a:solidFill>
                  <a:srgbClr val="987CF5"/>
                </a:solidFill>
              </a:rPr>
              <a:t>0.792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AA61BA-1859-401D-97D9-735F33D3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5337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Denge metriği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7D42C1-32DE-4BB0-9E83-84D2E684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971925"/>
            <a:ext cx="3552825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E8B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FD7387-3F43-4815-94C5-221A9252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971925"/>
            <a:ext cx="571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2E93A2-FBB1-4D7B-AE77-745D7599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124325"/>
            <a:ext cx="3190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FF"/>
                </a:solidFill>
              </a:defRPr>
            </a:pPr>
            <a:r>
              <a:rPr sz="1125" b="1">
                <a:solidFill>
                  <a:srgbClr val="2E8BFF"/>
                </a:solidFill>
              </a:rPr>
              <a:t>Şampiyon seçim yaklaşımı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C4FF9E-8F77-4329-A793-E7044D20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438650"/>
            <a:ext cx="31908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Random Forest kalibre edilerek en güçlü birleşik seçimi oluşturdu. Seçim yalnızca ROC-AUC'a dayanmadı; PR-AUC, Brier, F1, lift ve karar eşiği birlikte değerlendirildi.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ECF08A-0363-4D0F-8C0B-C3BF9396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Sentetik portföy verisi • 2022–2025 • Üretim kesiti: 31 Ara 2025 • Para birimi: TRY</a:t>
            </a:r>
          </a:p>
        </p:txBody>
      </p:sp>
    </p:spTree>
    <p:extLst>
      <p:ext uri="{BB962C8B-B14F-4D97-AF65-F5344CB8AC3E}">
        <p14:creationId xmlns:p14="http://schemas.microsoft.com/office/powerpoint/2010/main" val="15102656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51A3C8-5BDB-4287-9EF8-7DC70A82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MÜŞTERİ ZEKÂSI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AFE3C-8F37-43BD-AFB3-B1280B69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SHAP Açıklanabilirliği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090AE-2858-4EC1-AA3A-BF1F3E05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Global ve yerel sürücülerle risk skorunu yorumlanabilir hale getirme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4DC48-28D7-4EEA-B230-4675BB55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F7898-5F9A-4123-8D54-07818BD0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A4B9F-ECF7-487A-9F6B-98E67A58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667625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96682a6724a75"/>
          <a:stretch xmlns:a="http://schemas.openxmlformats.org/drawingml/2006/main"/>
        </p:blipFill>
        <p:spPr>
          <a:xfrm xmlns:a="http://schemas.openxmlformats.org/drawingml/2006/main">
            <a:off x="457200" y="1605855"/>
            <a:ext cx="7667625" cy="4313039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F3ECD-C9EC-40C2-A209-9A25068E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381125"/>
            <a:ext cx="33623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0EA00-8315-428D-B257-BD35439D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3811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56D"/>
          </a:solidFill>
          <a:ln xmlns:a="http://schemas.openxmlformats.org/drawingml/2006/main" w="0">
            <a:solidFill>
              <a:srgbClr val="F255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90E37-79D5-4030-943E-210FAFD0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543050"/>
            <a:ext cx="3019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SESSIONS 90D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2EA95-6260-4726-A1FE-36A16C24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790700"/>
            <a:ext cx="3019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556D"/>
                </a:solidFill>
              </a:defRPr>
            </a:pPr>
            <a:r>
              <a:rPr sz="1875" b="1">
                <a:solidFill>
                  <a:srgbClr val="F2556D"/>
                </a:solidFill>
              </a:rPr>
              <a:t>53.8%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ED8B3-EADC-41B4-9312-7286FF2F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238375"/>
            <a:ext cx="3019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Global önem payı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F6B5D-7383-46BE-98C2-B1A04546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676525"/>
            <a:ext cx="33623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0E526-C32A-4936-A7B0-8F1DDE0A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6765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6F6F1-8BF3-4A9A-847C-BDF47D3D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838450"/>
            <a:ext cx="3019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RECENCY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9A311-A47A-469D-8E64-043D68BE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86100"/>
            <a:ext cx="3019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A623"/>
                </a:solidFill>
              </a:defRPr>
            </a:pPr>
            <a:r>
              <a:rPr sz="1875" b="1">
                <a:solidFill>
                  <a:srgbClr val="F5A623"/>
                </a:solidFill>
              </a:rPr>
              <a:t>18.4%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F623B-D05F-4609-A5A4-EEAC2F0F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533775"/>
            <a:ext cx="3019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Global önem payı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C99BB8-23EA-4C46-B61B-DAF5E03A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971925"/>
            <a:ext cx="336232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14262-7E3F-4514-8FF5-12E5F88A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9719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CC184-E0D9-4734-BEA7-408261EB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133850"/>
            <a:ext cx="3019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DAYS SINCE LAST SESSION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F6D20F-96DA-4176-A862-47662E3F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81500"/>
            <a:ext cx="3019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87CF5"/>
                </a:solidFill>
              </a:defRPr>
            </a:pPr>
            <a:r>
              <a:rPr sz="1875" b="1">
                <a:solidFill>
                  <a:srgbClr val="987CF5"/>
                </a:solidFill>
              </a:rPr>
              <a:t>8.6%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F84C0E-CF4F-41C5-9C74-DED6F1F2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829175"/>
            <a:ext cx="3019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Global önem payı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3FC83B-D822-44C2-B91A-B6A811D4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267325"/>
            <a:ext cx="33623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26C6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7E546-5C88-4D09-A15F-3B52E6AA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267325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E0443E-0AEC-41AE-ABB7-648655D3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419725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C6A5"/>
                </a:solidFill>
              </a:defRPr>
            </a:pPr>
            <a:r>
              <a:rPr sz="1125" b="1">
                <a:solidFill>
                  <a:srgbClr val="26C6A5"/>
                </a:solidFill>
              </a:rPr>
              <a:t>Kullanım sınırı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816BFC-01F5-4B61-A1ED-0766F8FB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7340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SHAP ilişkiyi açıklar; nedensellik iddiası değildir. İnsan incelemesi ve kampanya kuralları skorun üzerinde kalır.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F6E72A-5D5A-4B1F-B025-222442B7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Sentetik portföy verisi • 2022–2025 • Üretim kesiti: 31 Ara 2025 • Para birimi: TRY</a:t>
            </a:r>
          </a:p>
        </p:txBody>
      </p:sp>
    </p:spTree>
    <p:extLst>
      <p:ext uri="{BB962C8B-B14F-4D97-AF65-F5344CB8AC3E}">
        <p14:creationId xmlns:p14="http://schemas.microsoft.com/office/powerpoint/2010/main" val="13074276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EBA24B-E0FC-4430-BC63-9960CB09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MÜŞTERİ ZEKÂSI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E5E8B-6E53-4F63-9872-39D6C2C7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Adalet, Drift ve Yönetişim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155DE-5758-46BB-9A65-95CCF882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Sorumlu kullanım için model onayı sonrasında sürekli kontrol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66712-CB6C-41A4-8404-21CCA65C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7B2FC-CE7F-4B89-8931-02C7923C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799BC-F5BC-4A50-B4FE-C6B7B6A1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7000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solidFill>
              <a:srgbClr val="07142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3A953-4154-47FB-8EB0-2CDCAA60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1676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Bölge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01125-A291-4E80-B40D-D2285B67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552575"/>
            <a:ext cx="91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Müşteri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F0496-3850-481A-8A52-42B54FDE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5257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Gözlenen Churn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0B78C-C2D1-4935-8ACC-29C5C0BC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5257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Ort.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48E4C-CC89-4029-A02C-40CCF118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55257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CD3C5-06AC-4015-82B8-507384DC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7000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DF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88224-8E2A-4168-B98A-CE91E987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14525"/>
            <a:ext cx="1676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Aegean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750BA-7DE9-46F5-B3ED-C51D358C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14525"/>
            <a:ext cx="91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621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4FB74-807C-4C40-9414-78CB50D8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1452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57.6%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02F8A9-4DD9-4ACF-9D7B-B916E697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1452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52.0%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BCAC5-0733-444F-8E2D-7AC95636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1452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0.856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61983-A147-4D88-BF24-9C7419D9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19325"/>
            <a:ext cx="7000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5DF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A118B-B12F-44AE-A733-59FFEE7E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1676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Black Sea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D6BC70-18F1-44F6-8F86-608805A6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86000"/>
            <a:ext cx="91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367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64FB57-98F3-4631-A5E2-02650950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8600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54.8%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C0E8E2-70E1-471B-964A-C0807090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50.1%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D12198-C9C5-4F95-ABC0-A1F0C32D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8600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0.885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53CB4B-C0EC-4BFA-8DCD-396859D2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7000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DF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0CC58E-3B2B-45CE-A7DA-17306891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57475"/>
            <a:ext cx="1676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Central Anatolia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22B762-6B32-4457-8E17-3F96E073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57475"/>
            <a:ext cx="91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671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D3E6F5-B4B3-4B4B-A5FB-D3390270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5747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57.8%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BAFDAF-A441-4425-8E9D-4B8D1747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5747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51.4%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8D38D4-0D0E-48B2-A6B2-10A9AAE3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5747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0.873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D75D39-7AC7-4F15-9AD7-985F8090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62275"/>
            <a:ext cx="7000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5DF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A45A09-DCC1-44AE-B5FE-6DFB10A7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28950"/>
            <a:ext cx="1676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Eastern Anatolia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E637A7-ECC2-44EF-ABA6-FAD2CC06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28950"/>
            <a:ext cx="91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159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8672B4-638A-4767-981A-6C447324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2895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58.5%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5A6A20-F93B-4365-89B1-3D96695D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895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48.1%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8F0DB6-DADE-4AD0-97CB-9F188A05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2895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0.869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71EF74-1FEA-4D00-8507-9063AE03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7000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DF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E48753-0CAF-40AE-9124-C9DF65A2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0425"/>
            <a:ext cx="1676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Marmara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65D953-8BF7-4436-B030-A15F27D9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00425"/>
            <a:ext cx="91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1,549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8DE8F3-B800-44FB-8E79-51617238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0042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54.2%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649138-EDED-4666-85D2-28C79E35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042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50.5%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6AEB94-7AB7-4086-A60C-482E97B9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00425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0.865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9283EF-37EC-49DF-9D2D-6E490A05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5225"/>
            <a:ext cx="7000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5DF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9BE6D7-6BCA-4AE5-A24C-70A8E822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71900"/>
            <a:ext cx="1676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Mediterranean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1DA76E-3B8C-4147-B08F-EFE5E905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71900"/>
            <a:ext cx="91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486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05BBBA-AAD1-4DFF-A7D6-B11B40A1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7190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56.0%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A13493-E563-44C3-B46B-BFB4907A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7190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50.7%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546390-E2A6-4D5F-AAFA-44B6DF8F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71900"/>
            <a:ext cx="1247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22033"/>
                </a:solidFill>
              </a:defRPr>
            </a:pPr>
            <a:r>
              <a:rPr sz="750" b="0">
                <a:solidFill>
                  <a:srgbClr val="122033"/>
                </a:solidFill>
              </a:rPr>
              <a:t>0.871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0A7A09-26F3-4CDD-A288-AB23C47B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76375"/>
            <a:ext cx="1857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21C0F0-07A6-4801-A4DF-308DDAFA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7637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DF7ACF-B01D-4515-9CA7-9E91D53B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38300"/>
            <a:ext cx="1514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DRIFT İZLEME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4E7611-66F5-4276-B486-33F3F315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A623"/>
                </a:solidFill>
              </a:defRPr>
            </a:pPr>
            <a:r>
              <a:rPr sz="1875" b="1">
                <a:solidFill>
                  <a:srgbClr val="F5A623"/>
                </a:solidFill>
              </a:rPr>
              <a:t>tenure days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40A4AA-CCBC-4057-A270-F3B63774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1514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PSI 0.245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AFBAC8-1DF1-4EC1-9231-EC78BD51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476375"/>
            <a:ext cx="19716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DC041B-1BB2-4E7F-AE8D-43DDD5B5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47637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557703-4A35-417B-AE4F-5E2C5BE7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638300"/>
            <a:ext cx="1628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KALITE KAPISI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9C3AB7A-BB5D-48A9-AC0E-DED6F1B8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885950"/>
            <a:ext cx="162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C6A5"/>
                </a:solidFill>
              </a:defRPr>
            </a:pPr>
            <a:r>
              <a:rPr sz="1875" b="1">
                <a:solidFill>
                  <a:srgbClr val="26C6A5"/>
                </a:solidFill>
              </a:rPr>
              <a:t>10/10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A70921-709F-4BB3-A989-E578300B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33625"/>
            <a:ext cx="1628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Tümü PASS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F3B373-AEDF-4AC4-AB66-952C13A2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40195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E8B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4674DD7-0007-4F6D-AB97-9801D6E9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FFFE116-EE1D-42B0-877F-5BC7DF50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365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FF"/>
                </a:solidFill>
              </a:defRPr>
            </a:pPr>
            <a:r>
              <a:rPr sz="1125" b="1">
                <a:solidFill>
                  <a:srgbClr val="2E8BFF"/>
                </a:solidFill>
              </a:rPr>
              <a:t>Adalet kontrolü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0C0B307-D9C4-4B9A-8525-FCC530E1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81375"/>
            <a:ext cx="3657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Bölge ve yaş bandı bazında müşteri sayısı, gözlenen churn, ortalama risk, ROC-AUC ve true-positive-rate izlenir.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0D4C42-D244-4CA2-B436-195C8781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95825"/>
            <a:ext cx="40195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F2556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4697220-59C5-4999-B1F6-AB61C744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9582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56D"/>
          </a:solidFill>
          <a:ln xmlns:a="http://schemas.openxmlformats.org/drawingml/2006/main" w="0">
            <a:solidFill>
              <a:srgbClr val="F2556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62D42A-4064-4FF2-BB86-5D948E9E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48225"/>
            <a:ext cx="365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556D"/>
                </a:solidFill>
              </a:defRPr>
            </a:pPr>
            <a:r>
              <a:rPr sz="1125" b="1">
                <a:solidFill>
                  <a:srgbClr val="F2556D"/>
                </a:solidFill>
              </a:rPr>
              <a:t>Üretim kuralı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671AFE-E319-4527-8759-07AD12D7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62550"/>
            <a:ext cx="3657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Aylık performans ve veri kalitesi; üç aylık drift/adalet incelemesi; eşik aşımında yeniden eğitim veya model geri çekme.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5B6B6F0-E77C-4B94-A9F0-2F349140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Sentetik portföy verisi • 2022–2025 • Üretim kesiti: 31 Ara 2025 • Para birimi: TRY</a:t>
            </a:r>
          </a:p>
        </p:txBody>
      </p:sp>
    </p:spTree>
    <p:extLst>
      <p:ext uri="{BB962C8B-B14F-4D97-AF65-F5344CB8AC3E}">
        <p14:creationId xmlns:p14="http://schemas.microsoft.com/office/powerpoint/2010/main" val="11560390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E9D9C5-A9E6-43AF-93B4-E7DFDCD5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MÜŞTERİ ZEKÂSI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2F72C-929F-4C02-8173-E6B05EB5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Kampanya Hedefleme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36A8F-6F1B-4184-A3E8-59E9D2E4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Sonraki en iyi aksiyon kurallarıyla tahmini kontrollü müdahaleye dönüştürme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3E64D-6BDA-49CF-95FF-FAD9DB00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2B686-4B54-4797-8AB2-D5FE4D1C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EC85D-93C6-4C6C-B105-80AF05BE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8105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0399681cd4dad"/>
          <a:stretch xmlns:a="http://schemas.openxmlformats.org/drawingml/2006/main"/>
        </p:blipFill>
        <p:spPr>
          <a:xfrm xmlns:a="http://schemas.openxmlformats.org/drawingml/2006/main">
            <a:off x="457200" y="1565672"/>
            <a:ext cx="7810500" cy="4393406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083E6-97BA-440C-B9DE-AD134DF6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381125"/>
            <a:ext cx="3219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401A4-82AF-45BD-A065-BF30A541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3811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CD260-CC47-425C-B92F-3320AD72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43050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ÖNCELIKLENDIRILEN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1BB1A-E0BA-4A75-B462-F961690F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907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8BFF"/>
                </a:solidFill>
              </a:defRPr>
            </a:pPr>
            <a:r>
              <a:rPr sz="1875" b="1">
                <a:solidFill>
                  <a:srgbClr val="2E8BFF"/>
                </a:solidFill>
              </a:rPr>
              <a:t>3,501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79920-6240-4C18-81F6-93BAA8C3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3837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Müşteri aksiyonu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10907-F16F-4DA0-AC63-C8A4E3AB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52725"/>
            <a:ext cx="3219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E537A-A7AA-4C3B-98BC-49921792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527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95584-5526-4C15-B987-B9EEB438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TAHSIS EDILEN BÜTÇE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4FA99-81F1-4DAF-9C7D-C31AD197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623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A623"/>
                </a:solidFill>
              </a:defRPr>
            </a:pPr>
            <a:r>
              <a:rPr sz="1875" b="1">
                <a:solidFill>
                  <a:srgbClr val="F5A623"/>
                </a:solidFill>
              </a:rPr>
              <a:t>TRY 236K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16619-4AAF-462E-B779-8CC6FDB0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0997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Model bütçe sınırı içinde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E4D46-D470-445F-87F0-B20B25BE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24325"/>
            <a:ext cx="3219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E0A1D-726C-4DBE-B5C1-61284140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2432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65580-6345-495A-BB4C-640CB3D2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86250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BEKLENEN MARJ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30F72C-61FE-4B6D-8214-72387AEC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339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C6A5"/>
                </a:solidFill>
              </a:defRPr>
            </a:pPr>
            <a:r>
              <a:rPr sz="1875" b="1">
                <a:solidFill>
                  <a:srgbClr val="26C6A5"/>
                </a:solidFill>
              </a:rPr>
              <a:t>TRY 547K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087F7C-2C3C-4305-B87D-7D71C3E4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8157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78A"/>
                </a:solidFill>
              </a:defRPr>
            </a:pPr>
            <a:r>
              <a:rPr sz="750" b="0">
                <a:solidFill>
                  <a:srgbClr val="68778A"/>
                </a:solidFill>
              </a:rPr>
              <a:t>Artımlı kampanya katkısı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588D05-81ED-4CF0-891E-33DA8E2C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95925"/>
            <a:ext cx="32194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F255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77BA67-35EB-4E26-BA03-4C502FE3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95925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56D"/>
          </a:solidFill>
          <a:ln xmlns:a="http://schemas.openxmlformats.org/drawingml/2006/main" w="0">
            <a:solidFill>
              <a:srgbClr val="F255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DE1099-39D8-41BB-B920-CD4A6AF7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6483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556D"/>
                </a:solidFill>
              </a:defRPr>
            </a:pPr>
            <a:r>
              <a:rPr sz="1125" b="1">
                <a:solidFill>
                  <a:srgbClr val="F2556D"/>
                </a:solidFill>
              </a:rPr>
              <a:t>Kontrol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6521D0-DE1E-4ABE-B6D9-EF991622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962650"/>
            <a:ext cx="28575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Pazarlama izni olmayan müşteriler bastırılır.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EFD224-4FED-4A12-8B71-E395F791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Sentetik portföy verisi • 2022–2025 • Üretim kesiti: 31 Ara 2025 • Para birimi: TRY</a:t>
            </a:r>
          </a:p>
        </p:txBody>
      </p:sp>
    </p:spTree>
    <p:extLst>
      <p:ext uri="{BB962C8B-B14F-4D97-AF65-F5344CB8AC3E}">
        <p14:creationId xmlns:p14="http://schemas.microsoft.com/office/powerpoint/2010/main" val="12064454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0C67C2-2481-47B2-B24B-14ECE5B9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MÜŞTERİ ZEKÂSI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48C41-B045-4950-8750-969474B3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Kampanya Ekonomisi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B17D4-4771-4C5B-A638-2463025A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Bütçeyi beklenen artımlı marj ve ROI üzerinden dağıtma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B574F-4C24-4F3D-950C-1F1CB199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4D2C2-6993-4A7F-B327-4220DD3F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17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457200" y="1524000"/>
          <a:ext xmlns:a="http://schemas.openxmlformats.org/drawingml/2006/main" cx="581025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4e9db69a4246e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AD6FD-0D67-444F-81AA-B28DAD8B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51625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26C6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C4DDA-8DB6-4A1E-83D5-B6A91DB2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0">
            <a:solidFill>
              <a:srgbClr val="26C6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BF4DB-08FB-4C48-ACEB-2D12FCF3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76400"/>
            <a:ext cx="480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C6A5"/>
                </a:solidFill>
              </a:defRPr>
            </a:pPr>
            <a:r>
              <a:rPr sz="1125" b="1">
                <a:solidFill>
                  <a:srgbClr val="26C6A5"/>
                </a:solidFill>
              </a:rPr>
              <a:t>Yatırım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EC514-B971-4B7B-8306-A7062260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90725"/>
            <a:ext cx="4800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ROI ≥ 1,0x ve pozitif artımlı marj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22D71-DC9C-49A7-B3F2-14188EC9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51625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97761-B3A8-4FE3-AAE6-3AFC449F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CDA21-3B39-4F50-8EED-A8D8C1DE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480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A623"/>
                </a:solidFill>
              </a:defRPr>
            </a:pPr>
            <a:r>
              <a:rPr sz="1125" b="1">
                <a:solidFill>
                  <a:srgbClr val="F5A623"/>
                </a:solidFill>
              </a:rPr>
              <a:t>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F46E95-53F9-405E-8B13-3D8F0BC2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43275"/>
            <a:ext cx="4800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ROI 0,25x–1,0x; kontrollü deney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3CB8E-4C5E-4719-820B-AC2E3570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29100"/>
            <a:ext cx="51625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F255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04652-3AFC-46C1-8B54-5632E0C2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2910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56D"/>
          </a:solidFill>
          <a:ln xmlns:a="http://schemas.openxmlformats.org/drawingml/2006/main" w="0">
            <a:solidFill>
              <a:srgbClr val="F255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86F20-436C-42A1-91F7-F63620E2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1500"/>
            <a:ext cx="480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556D"/>
                </a:solidFill>
              </a:defRPr>
            </a:pPr>
            <a:r>
              <a:rPr sz="1125" b="1">
                <a:solidFill>
                  <a:srgbClr val="F2556D"/>
                </a:solidFill>
              </a:rPr>
              <a:t>Beklet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6F9896-3FCF-4BF4-8810-C2CF0273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95825"/>
            <a:ext cx="4800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Negatif ekonomi veya zayıf uygunluk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1B7A9-A832-4967-9743-54AB7F6C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19750"/>
            <a:ext cx="51625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987C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14D6E-A41A-4A4B-AAE5-6FC24505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19750"/>
            <a:ext cx="57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0">
            <a:solidFill>
              <a:srgbClr val="987C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B99758-17F5-4466-9987-A3911F48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72150"/>
            <a:ext cx="480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87CF5"/>
                </a:solidFill>
              </a:defRPr>
            </a:pPr>
            <a:r>
              <a:rPr sz="1125" b="1">
                <a:solidFill>
                  <a:srgbClr val="987CF5"/>
                </a:solidFill>
              </a:rPr>
              <a:t>Portföy ilkesi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85897-9873-4EC3-94CC-A557C273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086475"/>
            <a:ext cx="4800600" cy="-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Model seçer; bütçe sınırlar; deney doğrular.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682406-25F3-4674-A4EE-64A0A4A1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Sentetik portföy verisi • 2022–2025 • Üretim kesiti: 31 Ara 2025 • Para birimi: TRY</a:t>
            </a:r>
          </a:p>
        </p:txBody>
      </p:sp>
    </p:spTree>
    <p:extLst>
      <p:ext uri="{BB962C8B-B14F-4D97-AF65-F5344CB8AC3E}">
        <p14:creationId xmlns:p14="http://schemas.microsoft.com/office/powerpoint/2010/main" val="13130167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695B19-EDF1-428D-BCFC-9B7A1713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MÜŞTERİ ZEKÂSI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1B9A8-DE85-45DB-BB57-86E9F2AA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Çok Platformlu Teslimat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D2D53-FA6B-437A-B67F-5C742B8C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Power BI, Excel, Tableau, SQL, API ve dokümantasyonu tek sistemde birleştirme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E8BE4-5AB7-4583-A1FA-ABABEAEC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8057F-4F9D-40E5-B7B7-56A6729B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D254A-C187-4751-8289-3C2F229E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4766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E8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F82BA-9A49-4683-84F0-70389878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FF"/>
                </a:solidFill>
              </a:defRPr>
            </a:pPr>
            <a:r>
              <a:rPr sz="1650" b="1">
                <a:solidFill>
                  <a:srgbClr val="2E8BFF"/>
                </a:solidFill>
              </a:rPr>
              <a:t>Power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30382-4CB0-4929-9A55-E8AB1F3D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12 sayfalık PBIP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DAX + semantik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3AF0A-54CD-426A-8702-D99CF1BC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28750"/>
            <a:ext cx="34766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16A0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AAC3B-EBEE-438A-AAC3-B9D0C66A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573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079"/>
                </a:solidFill>
              </a:defRPr>
            </a:pPr>
            <a:r>
              <a:rPr sz="1650" b="1">
                <a:solidFill>
                  <a:srgbClr val="16A079"/>
                </a:solidFill>
              </a:rPr>
              <a:t>Excel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C4910-496D-4A90-A746-2D6B1AE6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717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24 sayfalık karar modeli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Senaryo ve QA formülleri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287BE-DAF9-4400-8933-3CEA06E2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4766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9F9FC"/>
          </a:solidFill>
          <a:ln xmlns:a="http://schemas.openxmlformats.org/drawingml/2006/main" w="9525">
            <a:solidFill>
              <a:srgbClr val="2AC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8FD4D-127E-41C6-8759-219C1A64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C7E8"/>
                </a:solidFill>
              </a:defRPr>
            </a:pPr>
            <a:r>
              <a:rPr sz="1650" b="1">
                <a:solidFill>
                  <a:srgbClr val="2AC7E8"/>
                </a:solidFill>
              </a:rPr>
              <a:t>Tableau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60185-7C96-4944-9186-E7411E58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717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3 dashboard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8 analiz çalışma sayfası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A8FB3-8A93-422C-A716-8B845B3E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34766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987C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F2ED5-3560-4397-8920-34BC2564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87CF5"/>
                </a:solidFill>
              </a:defRPr>
            </a:pPr>
            <a:r>
              <a:rPr sz="1650" b="1">
                <a:solidFill>
                  <a:srgbClr val="987CF5"/>
                </a:solidFill>
              </a:rPr>
              <a:t>Python &amp; 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2F2FB-B608-4558-A526-1E52CB63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Tekrarlanabilir pipeline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SQLite analitik katmanı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B21C5-342D-4F3C-BDB5-F2F27E29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67100"/>
            <a:ext cx="34766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74CC99-0CF2-43B3-A6F2-27DFC952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6957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A623"/>
                </a:solidFill>
              </a:defRPr>
            </a:pPr>
            <a:r>
              <a:rPr sz="1650" b="1">
                <a:solidFill>
                  <a:srgbClr val="F5A623"/>
                </a:solidFill>
              </a:rPr>
              <a:t>API &amp; 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ABF78F-EF87-4D22-AB9A-84AB9194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100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FastAPI skorlama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Streamlit keşif uygulaması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9CE8B-4062-4146-B5B0-CCBDC368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67100"/>
            <a:ext cx="3476625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F255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385D8-4C0A-4F26-A34A-CD8F812F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556D"/>
                </a:solidFill>
              </a:defRPr>
            </a:pPr>
            <a:r>
              <a:rPr sz="1650" b="1">
                <a:solidFill>
                  <a:srgbClr val="F2556D"/>
                </a:solidFill>
              </a:rPr>
              <a:t>Yönetişim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42964A-8C14-4060-94D5-0BE35107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Test, model kartları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Drift, adalet ve CI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9C5DCF-278F-4117-AD3C-43C1C736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1087100" cy="504825"/>
          </a:xfrm>
          <a:prstGeom xmlns:a="http://schemas.openxmlformats.org/drawingml/2006/main" prst="roundRect">
            <a:avLst>
              <a:gd name="adj" fmla="val 2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42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1B7382-FC55-4C1F-8038-D8B47A12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571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solidFill>
              <a:srgbClr val="07142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50A3BB-0586-4BCC-8124-018B5489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72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423"/>
                </a:solidFill>
              </a:defRPr>
            </a:pPr>
            <a:r>
              <a:rPr sz="1125" b="1">
                <a:solidFill>
                  <a:srgbClr val="071423"/>
                </a:solidFill>
              </a:rPr>
              <a:t>Tek kaynak ilkesi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3099BA-6A8C-454C-887A-BCB0C96D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24575"/>
            <a:ext cx="10725150" cy="-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Tüm kanallar aynı iş tanımlarını, müşteri anahtarını ve doğrulanmış çıktı tablolarını kullanır.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E53943-2C4F-4D2A-A4F7-93837328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Sentetik portföy verisi • 2022–2025 • Üretim kesiti: 31 Ara 2025 • Para birimi: TRY</a:t>
            </a:r>
          </a:p>
        </p:txBody>
      </p:sp>
    </p:spTree>
    <p:extLst>
      <p:ext uri="{BB962C8B-B14F-4D97-AF65-F5344CB8AC3E}">
        <p14:creationId xmlns:p14="http://schemas.microsoft.com/office/powerpoint/2010/main" val="9250382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0D1E31-4DC2-419F-B824-BF6758FE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FF"/>
                </a:solidFill>
              </a:defRPr>
            </a:pPr>
            <a:r>
              <a:rPr sz="825" b="1">
                <a:solidFill>
                  <a:srgbClr val="2E8BFF"/>
                </a:solidFill>
              </a:rPr>
              <a:t>NOVARETAIL GROUP  |  MÜŞTERİ ZEKÂSI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BED0B-643F-40CC-B049-A7E1AB58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71423"/>
                </a:solidFill>
              </a:defRPr>
            </a:pPr>
            <a:r>
              <a:rPr sz="2475" b="1">
                <a:solidFill>
                  <a:srgbClr val="071423"/>
                </a:solidFill>
              </a:rPr>
              <a:t>90 Günlük Yol Haritası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CEE8A-38B1-4AEF-B761-804EF586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78A"/>
                </a:solidFill>
              </a:defRPr>
            </a:pPr>
            <a:r>
              <a:rPr sz="975" b="0">
                <a:solidFill>
                  <a:srgbClr val="68778A"/>
                </a:solidFill>
              </a:rPr>
              <a:t>Portföy prototipinden çalışan bir yetkinliğe gerçekçi geçiş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0405E-1610-45E1-8CEC-B74FA198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B499E-DA77-4098-B1B4-E452B9B4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78A"/>
                </a:solidFill>
              </a:defRPr>
            </a:pPr>
            <a:r>
              <a:rPr sz="750" b="1">
                <a:solidFill>
                  <a:srgbClr val="68778A"/>
                </a:solidFill>
              </a:rPr>
              <a:t>19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809625" y="3190875"/>
            <a:ext cx="10477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5DFEB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F2967-38A7-4646-819E-4DF4AB5C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76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9E676-DAD1-4330-A5E8-957DFC2E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8BFF"/>
                </a:solidFill>
              </a:defRPr>
            </a:pPr>
            <a:r>
              <a:rPr sz="1050" b="1">
                <a:solidFill>
                  <a:srgbClr val="2E8BFF"/>
                </a:solidFill>
              </a:rPr>
              <a:t>0–30 Gün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1106F-4D6A-49F3-B806-FEB692CA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31432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E8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AD970-A8BA-43CD-B6F6-30D13D0C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481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3"/>
                </a:solidFill>
              </a:defRPr>
            </a:pPr>
            <a:r>
              <a:rPr sz="1500" b="1">
                <a:solidFill>
                  <a:srgbClr val="071423"/>
                </a:solidFill>
              </a:rPr>
              <a:t>Temel ve Pilot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30738-B783-4CE6-94B4-E3F73122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8150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Kaynak eşleme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KPI sözlüğü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Pilot cohort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F8287-922F-42B2-96B3-75800189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76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C6A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AA90A-1E6C-4BFC-906B-1C0672E2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C6A5"/>
                </a:solidFill>
              </a:defRPr>
            </a:pPr>
            <a:r>
              <a:rPr sz="1050" b="1">
                <a:solidFill>
                  <a:srgbClr val="26C6A5"/>
                </a:solidFill>
              </a:rPr>
              <a:t>31–60 Gün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A69D5D-A7D8-4438-930A-44A15910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31432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9525">
            <a:solidFill>
              <a:srgbClr val="26C6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A814B-3931-49F6-B11F-44F2A6C4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481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3"/>
                </a:solidFill>
              </a:defRPr>
            </a:pPr>
            <a:r>
              <a:rPr sz="1500" b="1">
                <a:solidFill>
                  <a:srgbClr val="071423"/>
                </a:solidFill>
              </a:rPr>
              <a:t>Model ve Deney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0F9ED-339B-45F1-AAEC-50A5659F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8150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Zaman bazlı validasyon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A/B tasarımı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Onay kapısı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AC4EC-2856-4944-BF31-9381C68D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76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7CF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1C938-F42B-44BC-9957-A6373CED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7CF5"/>
                </a:solidFill>
              </a:defRPr>
            </a:pPr>
            <a:r>
              <a:rPr sz="1050" b="1">
                <a:solidFill>
                  <a:srgbClr val="987CF5"/>
                </a:solidFill>
              </a:rPr>
              <a:t>61–90 Gün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D419E8-F67D-4C98-9856-6C1F7F15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19500"/>
            <a:ext cx="31432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987C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AE858-C9AC-4A81-AF43-8067AF06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481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423"/>
                </a:solidFill>
              </a:defRPr>
            </a:pPr>
            <a:r>
              <a:rPr sz="1500" b="1">
                <a:solidFill>
                  <a:srgbClr val="071423"/>
                </a:solidFill>
              </a:rPr>
              <a:t>Operasyon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B648F5-4335-451E-9F9F-FF4D14F8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8150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BI yayını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API entegrasyonu</a:t>
            </a:r>
          </a:p>
          <a:p xmlns:a="http://schemas.openxmlformats.org/drawingml/2006/main">
            <a:pPr algn="l">
              <a:defRPr sz="1125" b="0">
                <a:solidFill>
                  <a:srgbClr val="122033"/>
                </a:solidFill>
              </a:defRPr>
            </a:pPr>
            <a:r>
              <a:rPr sz="1125" b="0">
                <a:solidFill>
                  <a:srgbClr val="122033"/>
                </a:solidFill>
              </a:rPr>
              <a:t>İzleme ritmi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532833-F428-4F34-AECE-1658F9C1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0C313C-4EF3-4B90-A95B-A2549603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269AE9-9A09-4397-AC79-FE53B16E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33525"/>
            <a:ext cx="10915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A623"/>
                </a:solidFill>
              </a:defRPr>
            </a:pPr>
            <a:r>
              <a:rPr sz="1125" b="1">
                <a:solidFill>
                  <a:srgbClr val="F5A623"/>
                </a:solidFill>
              </a:rPr>
              <a:t>Başarı ölçütü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C07D9E-46FF-4543-8B8B-51871A89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915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033"/>
                </a:solidFill>
              </a:defRPr>
            </a:pPr>
            <a:r>
              <a:rPr sz="975" b="0">
                <a:solidFill>
                  <a:srgbClr val="122033"/>
                </a:solidFill>
              </a:rPr>
              <a:t>Pilot başarı; yalnızca model metriğiyle değil, artımlı marj, müşteri deneyimi, operasyon uyumu ve kontrol ihlali olmamasıyla değerlendirilir.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B9066F-799C-4461-97CB-C36B6797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78A"/>
                </a:solidFill>
              </a:defRPr>
            </a:pPr>
            <a:r>
              <a:rPr sz="675" b="0">
                <a:solidFill>
                  <a:srgbClr val="68778A"/>
                </a:solidFill>
              </a:rPr>
              <a:t>Sentetik portföy verisi • 2022–2025 • Üretim kesiti: 31 Ara 2025 • Para birimi: TRY</a:t>
            </a:r>
          </a:p>
        </p:txBody>
      </p:sp>
    </p:spTree>
    <p:extLst>
      <p:ext uri="{BB962C8B-B14F-4D97-AF65-F5344CB8AC3E}">
        <p14:creationId xmlns:p14="http://schemas.microsoft.com/office/powerpoint/2010/main" val="5734470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8426E5-69AA-465B-ABF8-8C3D0733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D8FF"/>
                </a:solidFill>
              </a:defRPr>
            </a:pPr>
            <a:r>
              <a:rPr sz="900" b="1">
                <a:solidFill>
                  <a:srgbClr val="8FD8FF"/>
                </a:solidFill>
              </a:rPr>
              <a:t>TEŞEKKÜRLER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46D7F-8F00-42B0-806E-C0008168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809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Müşteri değerini bil.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Riski öngör.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Disiplinle aksiyon 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600B7-8C48-44FC-A8F9-C575A469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781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6F6"/>
                </a:solidFill>
              </a:defRPr>
            </a:pPr>
            <a:r>
              <a:rPr sz="1425" b="0">
                <a:solidFill>
                  <a:srgbClr val="D8E6F6"/>
                </a:solidFill>
              </a:rPr>
              <a:t>İstatistik, makine öğrenmesi, iş zekâsı, karar bilimi ve yönetici iletişimini birleştiren portföy seviyesinde müşteri zekâsı platformu.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F0EA2-B73B-4CE3-A1BE-10569BFE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Murat Miraç Gedik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C789F-C2BB-4001-9E8C-6E1B5AFE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D8FF"/>
                </a:solidFill>
              </a:defRPr>
            </a:pPr>
            <a:r>
              <a:rPr sz="975" b="0">
                <a:solidFill>
                  <a:srgbClr val="8FD8FF"/>
                </a:solidFill>
              </a:rPr>
              <a:t>Python • SQL • Power BI • Excel • Tableau • Scikit-learn • SHAP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BE50F-7638-4C01-BF65-1FBBF24F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7D9"/>
                </a:solidFill>
              </a:defRPr>
            </a:pPr>
            <a:r>
              <a:rPr sz="750" b="0">
                <a:solidFill>
                  <a:srgbClr val="B7C7D9"/>
                </a:solidFill>
              </a:rPr>
              <a:t>Sentetik portföy verisi • 2022–2025 • Üretim kesiti: 31 Ara 2025 • Para birimi: 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87A00-AD28-483E-95BE-9D881A6D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335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FF"/>
          </a:solidFill>
          <a:ln xmlns:a="http://schemas.openxmlformats.org/drawingml/2006/main" w="0">
            <a:solidFill>
              <a:srgbClr val="2E8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C3E88-E4F3-47CB-853D-4DCBFBAE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71700"/>
            <a:ext cx="1581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DEĞER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+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RİSK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→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AKSİYON</a:t>
            </a:r>
          </a:p>
        </p:txBody>
      </p:sp>
    </p:spTree>
    <p:extLst>
      <p:ext uri="{BB962C8B-B14F-4D97-AF65-F5344CB8AC3E}">
        <p14:creationId xmlns:p14="http://schemas.microsoft.com/office/powerpoint/2010/main" val="174142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2026-07-27T14:47:23.8010000Z</dcterms:created>
  <dcterms:modified xsi:type="dcterms:W3CDTF">2026-07-27T14:47:23.8010000Z</dcterms:modified>
</coreProperties>
</file>